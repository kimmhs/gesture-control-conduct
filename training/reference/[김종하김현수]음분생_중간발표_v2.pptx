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8"/>
    <p:restoredTop sz="97719"/>
  </p:normalViewPr>
  <p:slideViewPr>
    <p:cSldViewPr snapToGrid="0">
      <p:cViewPr>
        <p:scale>
          <a:sx n="72" d="100"/>
          <a:sy n="72" d="100"/>
        </p:scale>
        <p:origin x="816" y="3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총 노트 수: </a:t>
            </a:r>
            <a:r>
              <a:rPr lang="ko-KR" altLang="ko-KR" b="1" dirty="0"/>
              <a:t>4,443개</a:t>
            </a:r>
            <a:r>
              <a:rPr lang="ko-KR" altLang="ko-KR" dirty="0"/>
              <a:t> </a:t>
            </a:r>
          </a:p>
          <a:p>
            <a:r>
              <a:rPr lang="ko-KR" altLang="ko-KR" dirty="0"/>
              <a:t>각 노트에 </a:t>
            </a:r>
            <a:r>
              <a:rPr lang="ko-KR" altLang="ko-KR" b="1" dirty="0" err="1"/>
              <a:t>Velocity</a:t>
            </a:r>
            <a:r>
              <a:rPr lang="ko-KR" altLang="ko-KR" b="1" dirty="0"/>
              <a:t> 포함</a:t>
            </a:r>
            <a:r>
              <a:rPr lang="ko-KR" altLang="ko-KR" dirty="0"/>
              <a:t> </a:t>
            </a:r>
          </a:p>
          <a:p>
            <a:r>
              <a:rPr lang="ko-KR" altLang="ko-KR" dirty="0" err="1"/>
              <a:t>Velocity</a:t>
            </a:r>
            <a:r>
              <a:rPr lang="ko-KR" altLang="ko-KR" dirty="0"/>
              <a:t> 범위: </a:t>
            </a:r>
            <a:r>
              <a:rPr lang="ko-KR" altLang="ko-KR" b="1" dirty="0"/>
              <a:t>45–100</a:t>
            </a:r>
            <a:r>
              <a:rPr lang="ko-KR" altLang="ko-KR" dirty="0"/>
              <a:t> </a:t>
            </a:r>
          </a:p>
          <a:p>
            <a:r>
              <a:rPr lang="ko-KR" altLang="ko-KR" dirty="0"/>
              <a:t>채널 볼륨 </a:t>
            </a:r>
            <a:r>
              <a:rPr lang="ko-KR" altLang="ko-KR" b="1" dirty="0"/>
              <a:t>CC7 포함</a:t>
            </a:r>
            <a:r>
              <a:rPr lang="ko-KR" altLang="ko-KR" dirty="0"/>
              <a:t> </a:t>
            </a:r>
          </a:p>
          <a:p>
            <a:r>
              <a:rPr lang="ko-KR" altLang="ko-KR" dirty="0"/>
              <a:t>표현 컨트롤 </a:t>
            </a:r>
            <a:r>
              <a:rPr lang="ko-KR" altLang="ko-KR" b="1" dirty="0"/>
              <a:t>CC11(</a:t>
            </a:r>
            <a:r>
              <a:rPr lang="ko-KR" altLang="ko-KR" b="1" dirty="0" err="1"/>
              <a:t>Expression</a:t>
            </a:r>
            <a:r>
              <a:rPr lang="ko-KR" altLang="ko-KR" b="1" dirty="0"/>
              <a:t>) 포함</a:t>
            </a:r>
            <a:r>
              <a:rPr lang="ko-KR" altLang="ko-KR" dirty="0"/>
              <a:t> </a:t>
            </a:r>
          </a:p>
          <a:p>
            <a:pPr lvl="1"/>
            <a:r>
              <a:rPr lang="ko-KR" altLang="ko-KR" dirty="0"/>
              <a:t>CC11 이벤트 수: </a:t>
            </a:r>
            <a:r>
              <a:rPr lang="ko-KR" altLang="ko-KR" b="1" dirty="0"/>
              <a:t>790개</a:t>
            </a:r>
            <a:r>
              <a:rPr lang="ko-KR" altLang="ko-KR" dirty="0"/>
              <a:t>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179E-02EA-C4D2-2901-E7C80C47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163DD-9FBE-B663-9FDE-E9F1A5050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EA8AD-1A47-CEC7-951B-9BB6D96F6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2FD2C-7ACB-E85B-45B5-CF8E3FCE2E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7994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3543B2-46EF-47F0-A3BC-81C2B6F5DCB9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MIDTERM PRESENTATION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13415D-111A-43AA-91BB-7AF32C4966F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1143000" cy="5715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E989D4-E72C-47A4-9DCC-C60AA7B70A07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16002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5000"/>
              </a:lnSpc>
              <a:buNone/>
              <a:defRPr sz="7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MIDI 기반 오케스트라</a:t>
            </a:r>
          </a:p>
          <a:p>
            <a:pPr algn="l">
              <a:lnSpc>
                <a:spcPct val="105000"/>
              </a:lnSpc>
              <a:buNone/>
              <a:defRPr sz="7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Handmark 지휘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145A26-4701-4502-9722-F8F5B10EF2BD}"/>
              </a:ext>
            </a:extLst>
          </p:cNvPr>
          <p:cNvSpPr>
            <a:spLocks noGrp="1"/>
          </p:cNvSpPr>
          <p:nvPr/>
        </p:nvSpPr>
        <p:spPr>
          <a:xfrm>
            <a:off x="1143000" y="6477000"/>
            <a:ext cx="1600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40000"/>
              </a:lnSpc>
              <a:defRPr sz="24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손동작 기반 개별 악기 </a:t>
            </a:r>
            <a:r>
              <a:rPr lang="en" sz="24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MIDI </a:t>
            </a:r>
            <a:r>
              <a:rPr lang="ko-KR" altLang="en-US" sz="24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지휘를 위한 인터랙티브 음악 제어 시스템</a:t>
            </a:r>
            <a:endParaRPr sz="24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3A8E28-E860-43D9-9E8E-458F69C60C8C}"/>
              </a:ext>
            </a:extLst>
          </p:cNvPr>
          <p:cNvSpPr>
            <a:spLocks noGrp="1"/>
          </p:cNvSpPr>
          <p:nvPr/>
        </p:nvSpPr>
        <p:spPr>
          <a:xfrm>
            <a:off x="1143000" y="81915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0ADF6E-CDD0-4744-A563-FB7F97A4A7B4}"/>
              </a:ext>
            </a:extLst>
          </p:cNvPr>
          <p:cNvSpPr>
            <a:spLocks noGrp="1"/>
          </p:cNvSpPr>
          <p:nvPr/>
        </p:nvSpPr>
        <p:spPr>
          <a:xfrm>
            <a:off x="1143000" y="8572500"/>
            <a:ext cx="666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Team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E718C1-6822-431E-B5CA-353BDB311BBB}"/>
              </a:ext>
            </a:extLst>
          </p:cNvPr>
          <p:cNvSpPr>
            <a:spLocks noGrp="1"/>
          </p:cNvSpPr>
          <p:nvPr/>
        </p:nvSpPr>
        <p:spPr>
          <a:xfrm>
            <a:off x="1143000" y="88582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21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김종하 · 김현수 / 인공지능학과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2D8632-4CD0-44EA-ACA3-CD3036A8D7CC}"/>
              </a:ext>
            </a:extLst>
          </p:cNvPr>
          <p:cNvSpPr>
            <a:spLocks noGrp="1"/>
          </p:cNvSpPr>
          <p:nvPr/>
        </p:nvSpPr>
        <p:spPr>
          <a:xfrm>
            <a:off x="8763000" y="85725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Date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29852C-A52E-464F-9481-4B8383B580FE}"/>
              </a:ext>
            </a:extLst>
          </p:cNvPr>
          <p:cNvSpPr>
            <a:spLocks noGrp="1"/>
          </p:cNvSpPr>
          <p:nvPr/>
        </p:nvSpPr>
        <p:spPr>
          <a:xfrm>
            <a:off x="8763000" y="8858250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2100" b="1">
                <a:solidFill>
                  <a:srgbClr val="0B0F1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B0F1A"/>
                </a:solidFill>
                <a:latin typeface="Menlo"/>
                <a:ea typeface="Menlo"/>
                <a:cs typeface="Menlo"/>
              </a:rPr>
              <a:t>2026 . 05 . 27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2C918-9823-40FF-ABC2-825E732104AA}"/>
              </a:ext>
            </a:extLst>
          </p:cNvPr>
          <p:cNvSpPr>
            <a:spLocks noGrp="1"/>
          </p:cNvSpPr>
          <p:nvPr/>
        </p:nvSpPr>
        <p:spPr>
          <a:xfrm>
            <a:off x="12573000" y="8572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Course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D0F4DF-9763-44C1-8FFF-5760A085190C}"/>
              </a:ext>
            </a:extLst>
          </p:cNvPr>
          <p:cNvSpPr>
            <a:spLocks noGrp="1"/>
          </p:cNvSpPr>
          <p:nvPr/>
        </p:nvSpPr>
        <p:spPr>
          <a:xfrm>
            <a:off x="12573000" y="8858250"/>
            <a:ext cx="4572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AIE6664 · 딥러닝을 이용한</a:t>
            </a:r>
          </a:p>
          <a:p>
            <a:pPr algn="l">
              <a:lnSpc>
                <a:spcPct val="120000"/>
              </a:lnSpc>
              <a:buNone/>
              <a:defRPr sz="1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음악 분석 및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90E57-A94C-9E0B-7268-E26CB9F52EFB}"/>
              </a:ext>
            </a:extLst>
          </p:cNvPr>
          <p:cNvSpPr txBox="1"/>
          <p:nvPr/>
        </p:nvSpPr>
        <p:spPr>
          <a:xfrm>
            <a:off x="7386918" y="122278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36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9ACF4B-8A2F-412E-8A68-0B860952699A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02 / Agenda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574E0B-2F62-43B5-B3EC-A27D7F6B5FD6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54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54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06F390-15C4-4F1A-A64F-AB5357417B35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DACBE2-ADC9-4EFF-AFC4-6F6F68D76B47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1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86819C-82D3-49BF-8F65-E394BFCFC8DB}"/>
              </a:ext>
            </a:extLst>
          </p:cNvPr>
          <p:cNvSpPr>
            <a:spLocks noGrp="1"/>
          </p:cNvSpPr>
          <p:nvPr/>
        </p:nvSpPr>
        <p:spPr>
          <a:xfrm>
            <a:off x="2476500" y="3819525"/>
            <a:ext cx="1066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사전 목표 및 진행 상황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CFF1EF-2B35-444F-9DDD-BA03D22BA26A}"/>
              </a:ext>
            </a:extLst>
          </p:cNvPr>
          <p:cNvSpPr>
            <a:spLocks noGrp="1"/>
          </p:cNvSpPr>
          <p:nvPr/>
        </p:nvSpPr>
        <p:spPr>
          <a:xfrm>
            <a:off x="1143000" y="466725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3BD133-78D1-4131-9C4D-3694F6CB3625}"/>
              </a:ext>
            </a:extLst>
          </p:cNvPr>
          <p:cNvSpPr>
            <a:spLocks noGrp="1"/>
          </p:cNvSpPr>
          <p:nvPr/>
        </p:nvSpPr>
        <p:spPr>
          <a:xfrm>
            <a:off x="1143000" y="493395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1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AE7266-2FD7-41B3-AF9C-317E21883F77}"/>
              </a:ext>
            </a:extLst>
          </p:cNvPr>
          <p:cNvSpPr>
            <a:spLocks noGrp="1"/>
          </p:cNvSpPr>
          <p:nvPr/>
        </p:nvSpPr>
        <p:spPr>
          <a:xfrm>
            <a:off x="2476500" y="4867275"/>
            <a:ext cx="1066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중간 결과물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CCC59A-7104-4167-B07C-F86B76519D72}"/>
              </a:ext>
            </a:extLst>
          </p:cNvPr>
          <p:cNvSpPr>
            <a:spLocks noGrp="1"/>
          </p:cNvSpPr>
          <p:nvPr/>
        </p:nvSpPr>
        <p:spPr>
          <a:xfrm>
            <a:off x="13811250" y="4905375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rPr>
              <a:t>Vocab · Pipeline · Demo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04BB01-EB45-44EE-B835-933FC60B977C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027C0A-5AB9-4144-BC60-5CE5865ECD4B}"/>
              </a:ext>
            </a:extLst>
          </p:cNvPr>
          <p:cNvSpPr>
            <a:spLocks noGrp="1"/>
          </p:cNvSpPr>
          <p:nvPr/>
        </p:nvSpPr>
        <p:spPr>
          <a:xfrm>
            <a:off x="1143000" y="598170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1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31C233-3B3D-4258-BEFB-E5609FC19A9E}"/>
              </a:ext>
            </a:extLst>
          </p:cNvPr>
          <p:cNvSpPr>
            <a:spLocks noGrp="1"/>
          </p:cNvSpPr>
          <p:nvPr/>
        </p:nvSpPr>
        <p:spPr>
          <a:xfrm>
            <a:off x="2476500" y="5915025"/>
            <a:ext cx="1066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남은 과제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A0F6EF-6079-4E96-A265-2FFEDFE3C10D}"/>
              </a:ext>
            </a:extLst>
          </p:cNvPr>
          <p:cNvSpPr>
            <a:spLocks noGrp="1"/>
          </p:cNvSpPr>
          <p:nvPr/>
        </p:nvSpPr>
        <p:spPr>
          <a:xfrm>
            <a:off x="13811250" y="5953125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rPr>
              <a:t>Dataset · Model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7C2C17-6931-4F5B-BE98-F1910F5B55B5}"/>
              </a:ext>
            </a:extLst>
          </p:cNvPr>
          <p:cNvSpPr>
            <a:spLocks noGrp="1"/>
          </p:cNvSpPr>
          <p:nvPr/>
        </p:nvSpPr>
        <p:spPr>
          <a:xfrm>
            <a:off x="1143000" y="676275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B6E8C9-57C5-4DA9-A043-5A643D8FBD03}"/>
              </a:ext>
            </a:extLst>
          </p:cNvPr>
          <p:cNvSpPr>
            <a:spLocks noGrp="1"/>
          </p:cNvSpPr>
          <p:nvPr/>
        </p:nvSpPr>
        <p:spPr>
          <a:xfrm>
            <a:off x="1143000" y="702945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1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F6B61D-7631-4993-B28C-C4BE5AF86A8F}"/>
              </a:ext>
            </a:extLst>
          </p:cNvPr>
          <p:cNvSpPr>
            <a:spLocks noGrp="1"/>
          </p:cNvSpPr>
          <p:nvPr/>
        </p:nvSpPr>
        <p:spPr>
          <a:xfrm>
            <a:off x="2476500" y="6962775"/>
            <a:ext cx="1066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예상 최종 결과물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A79028-3B48-4616-92DB-0173B776D3A0}"/>
              </a:ext>
            </a:extLst>
          </p:cNvPr>
          <p:cNvSpPr>
            <a:spLocks noGrp="1"/>
          </p:cNvSpPr>
          <p:nvPr/>
        </p:nvSpPr>
        <p:spPr>
          <a:xfrm>
            <a:off x="1143000" y="78105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4623A8-99D6-4A79-9FD4-8A9CD23E53CC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8C6E0AC-41D1-4920-A611-9E3C4C01E865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84181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52D5F87-3117-441C-8341-711095B123C5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01 / Goals &amp; Progress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EF4838-2001-44AD-B0E9-D0A2BE200F97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제안</a:t>
            </a:r>
            <a:r>
              <a:rPr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목표</a:t>
            </a:r>
            <a:r>
              <a:rPr lang="en-US"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lang="en-US"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진행</a:t>
            </a:r>
            <a:r>
              <a:rPr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상황</a:t>
            </a:r>
            <a:endParaRPr sz="48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A06D93-834E-4ED8-95AA-F55DF6C84717}"/>
              </a:ext>
            </a:extLst>
          </p:cNvPr>
          <p:cNvSpPr>
            <a:spLocks noGrp="1"/>
          </p:cNvSpPr>
          <p:nvPr/>
        </p:nvSpPr>
        <p:spPr>
          <a:xfrm>
            <a:off x="1143000" y="2847975"/>
            <a:ext cx="1600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8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2주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전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제안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발표에서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정의한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4개의 task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2개가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완료되었고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2개가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진행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중입니다</a:t>
            </a:r>
            <a:r>
              <a:rPr sz="18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253AF9-8578-417F-AD6C-3EA19966CA10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9DEE56-E855-4217-B209-94C39FF49056}"/>
              </a:ext>
            </a:extLst>
          </p:cNvPr>
          <p:cNvSpPr>
            <a:spLocks noGrp="1"/>
          </p:cNvSpPr>
          <p:nvPr/>
        </p:nvSpPr>
        <p:spPr>
          <a:xfrm>
            <a:off x="1143000" y="5029200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67E714-4259-4B30-B272-D99E5BCA216B}"/>
              </a:ext>
            </a:extLst>
          </p:cNvPr>
          <p:cNvSpPr>
            <a:spLocks noGrp="1"/>
          </p:cNvSpPr>
          <p:nvPr/>
        </p:nvSpPr>
        <p:spPr>
          <a:xfrm>
            <a:off x="2095500" y="4933950"/>
            <a:ext cx="1123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 sz="24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en" altLang="ko-KR" sz="24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Handmark</a:t>
            </a:r>
            <a:r>
              <a:rPr lang="en" altLang="ko-KR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명령어 기반 </a:t>
            </a:r>
            <a:r>
              <a:rPr lang="en" altLang="ko-KR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dynamic · tempo </a:t>
            </a:r>
            <a:r>
              <a:rPr lang="ko-KR" altLang="en-US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조절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CDEE7F-0203-44ED-B16C-60C98F6BAF61}"/>
              </a:ext>
            </a:extLst>
          </p:cNvPr>
          <p:cNvSpPr>
            <a:spLocks noGrp="1"/>
          </p:cNvSpPr>
          <p:nvPr/>
        </p:nvSpPr>
        <p:spPr>
          <a:xfrm>
            <a:off x="14954250" y="4991100"/>
            <a:ext cx="2095500" cy="32385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C764E-7892-45B8-901C-CE6843BAE25C}"/>
              </a:ext>
            </a:extLst>
          </p:cNvPr>
          <p:cNvSpPr>
            <a:spLocks noGrp="1"/>
          </p:cNvSpPr>
          <p:nvPr/>
        </p:nvSpPr>
        <p:spPr>
          <a:xfrm>
            <a:off x="14954250" y="50101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✓ DONE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492E5A-B992-4822-8C60-505D7F8E6E1F}"/>
              </a:ext>
            </a:extLst>
          </p:cNvPr>
          <p:cNvSpPr>
            <a:spLocks noGrp="1"/>
          </p:cNvSpPr>
          <p:nvPr/>
        </p:nvSpPr>
        <p:spPr>
          <a:xfrm>
            <a:off x="1143000" y="56769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0A2E70-75FA-4975-AAD8-6BA1375EF5B5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A7D149-7530-4F3D-8481-F3A2232D3BF1}"/>
              </a:ext>
            </a:extLst>
          </p:cNvPr>
          <p:cNvSpPr>
            <a:spLocks noGrp="1"/>
          </p:cNvSpPr>
          <p:nvPr/>
        </p:nvSpPr>
        <p:spPr>
          <a:xfrm>
            <a:off x="2095500" y="5848350"/>
            <a:ext cx="1123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24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지휘 동작 </a:t>
            </a:r>
            <a:r>
              <a:rPr lang="en-US" altLang="ko-KR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vocab </a:t>
            </a:r>
            <a:r>
              <a:rPr lang="ko-KR" altLang="en-US" sz="2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정의</a:t>
            </a:r>
            <a:endParaRPr sz="24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078DDD-1D98-4137-9FD6-2EEE64D901F5}"/>
              </a:ext>
            </a:extLst>
          </p:cNvPr>
          <p:cNvSpPr>
            <a:spLocks noGrp="1"/>
          </p:cNvSpPr>
          <p:nvPr/>
        </p:nvSpPr>
        <p:spPr>
          <a:xfrm>
            <a:off x="14954250" y="5905500"/>
            <a:ext cx="2095500" cy="32385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55F64B-73C6-4701-99ED-609E637203A5}"/>
              </a:ext>
            </a:extLst>
          </p:cNvPr>
          <p:cNvSpPr>
            <a:spLocks noGrp="1"/>
          </p:cNvSpPr>
          <p:nvPr/>
        </p:nvSpPr>
        <p:spPr>
          <a:xfrm>
            <a:off x="14954250" y="59245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✓ DONE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2D511B-91AF-46AD-86E2-1EFCDD4532FD}"/>
              </a:ext>
            </a:extLst>
          </p:cNvPr>
          <p:cNvSpPr>
            <a:spLocks noGrp="1"/>
          </p:cNvSpPr>
          <p:nvPr/>
        </p:nvSpPr>
        <p:spPr>
          <a:xfrm>
            <a:off x="1143000" y="65913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7A6F56-8BDB-44CF-AE0F-0D2C3838173E}"/>
              </a:ext>
            </a:extLst>
          </p:cNvPr>
          <p:cNvSpPr>
            <a:spLocks noGrp="1"/>
          </p:cNvSpPr>
          <p:nvPr/>
        </p:nvSpPr>
        <p:spPr>
          <a:xfrm>
            <a:off x="1143000" y="6858000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A2B758-7AC1-4614-B7DC-C198BC777A4C}"/>
              </a:ext>
            </a:extLst>
          </p:cNvPr>
          <p:cNvSpPr>
            <a:spLocks noGrp="1"/>
          </p:cNvSpPr>
          <p:nvPr/>
        </p:nvSpPr>
        <p:spPr>
          <a:xfrm>
            <a:off x="2095500" y="6762750"/>
            <a:ext cx="1123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2400" b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Handmark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명령어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인식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데이터셋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및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240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b="1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학습</a:t>
            </a:r>
            <a:endParaRPr sz="2400" b="1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F3FF7A-CEB8-45CF-8325-DBC4BDF2FCBA}"/>
              </a:ext>
            </a:extLst>
          </p:cNvPr>
          <p:cNvSpPr>
            <a:spLocks noGrp="1"/>
          </p:cNvSpPr>
          <p:nvPr/>
        </p:nvSpPr>
        <p:spPr>
          <a:xfrm>
            <a:off x="14954250" y="6800850"/>
            <a:ext cx="2095500" cy="3429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162114F-ED3B-48D7-AA62-F6E73B42E26C}"/>
              </a:ext>
            </a:extLst>
          </p:cNvPr>
          <p:cNvSpPr>
            <a:spLocks noGrp="1"/>
          </p:cNvSpPr>
          <p:nvPr/>
        </p:nvSpPr>
        <p:spPr>
          <a:xfrm>
            <a:off x="14954250" y="68199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B0F1A">
                    <a:alpha val="6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F1A">
                    <a:alpha val="60000"/>
                  </a:srgbClr>
                </a:solidFill>
                <a:latin typeface="Menlo"/>
                <a:ea typeface="Menlo"/>
                <a:cs typeface="Menlo"/>
              </a:rPr>
              <a:t>IN PROGRESS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94601B-2D73-4C21-BB97-241B7B876E62}"/>
              </a:ext>
            </a:extLst>
          </p:cNvPr>
          <p:cNvSpPr>
            <a:spLocks noGrp="1"/>
          </p:cNvSpPr>
          <p:nvPr/>
        </p:nvSpPr>
        <p:spPr>
          <a:xfrm>
            <a:off x="1143000" y="7505700"/>
            <a:ext cx="16002000" cy="9525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E103D2-C602-47B0-B60C-2EC67663FCBB}"/>
              </a:ext>
            </a:extLst>
          </p:cNvPr>
          <p:cNvSpPr>
            <a:spLocks noGrp="1"/>
          </p:cNvSpPr>
          <p:nvPr/>
        </p:nvSpPr>
        <p:spPr>
          <a:xfrm>
            <a:off x="1143000" y="7772400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BAFA26-134B-44FE-B928-F1F8F0AD1D69}"/>
              </a:ext>
            </a:extLst>
          </p:cNvPr>
          <p:cNvSpPr>
            <a:spLocks noGrp="1"/>
          </p:cNvSpPr>
          <p:nvPr/>
        </p:nvSpPr>
        <p:spPr>
          <a:xfrm>
            <a:off x="2095500" y="7677150"/>
            <a:ext cx="1123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  <a:buNone/>
              <a:defRPr sz="2400" b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시연용 UI 제작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12D6F4-F36F-4403-BF3A-790979F97248}"/>
              </a:ext>
            </a:extLst>
          </p:cNvPr>
          <p:cNvSpPr>
            <a:spLocks noGrp="1"/>
          </p:cNvSpPr>
          <p:nvPr/>
        </p:nvSpPr>
        <p:spPr>
          <a:xfrm>
            <a:off x="14954250" y="7715250"/>
            <a:ext cx="2095500" cy="3429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DDB49C-DB41-46B5-BF5B-0FD77E1B0B3E}"/>
              </a:ext>
            </a:extLst>
          </p:cNvPr>
          <p:cNvSpPr>
            <a:spLocks noGrp="1"/>
          </p:cNvSpPr>
          <p:nvPr/>
        </p:nvSpPr>
        <p:spPr>
          <a:xfrm>
            <a:off x="14954250" y="77343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B0F1A">
                    <a:alpha val="6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F1A">
                    <a:alpha val="60000"/>
                  </a:srgbClr>
                </a:solidFill>
                <a:latin typeface="Menlo"/>
                <a:ea typeface="Menlo"/>
                <a:cs typeface="Menlo"/>
              </a:rPr>
              <a:t>IN PROGRESS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69C128-1838-4725-8E70-1DA01284B35C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7C9219-D9F2-471D-99D8-DA2159E16955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39286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3C943A-D811-4DE3-BC10-374676D894CD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02 / 중간 결과물 · 4-1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2513FC-9FBA-4E3D-BCD8-FD2C57F05647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Vocab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정의</a:t>
            </a:r>
            <a:endParaRPr sz="48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6B856D-D0CE-4A5E-BBFE-DE737746B5A1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6002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기존 </a:t>
            </a:r>
            <a:r>
              <a:rPr lang="en-US" altLang="ko-KR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lang="ko-KR" altLang="en-US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왼손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오른손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각각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tempo, dynamics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담당</a:t>
            </a:r>
            <a:r>
              <a:rPr lang="ko-KR" altLang="en-US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하도록 설계</a:t>
            </a:r>
            <a:r>
              <a:rPr lang="en-US" altLang="ko-KR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  <a:endParaRPr sz="19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현재 </a:t>
            </a:r>
            <a:r>
              <a:rPr lang="en-US" altLang="ko-KR" sz="19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지휘자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제스처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영감을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얻어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오른손이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두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요소를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담당하도록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재설계</a:t>
            </a:r>
            <a:endParaRPr sz="19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35A640-011D-4C7D-A90F-42212AF98D23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666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Before · </a:t>
            </a:r>
            <a:r>
              <a:rPr sz="1200" b="1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제안</a:t>
            </a:r>
            <a:r>
              <a:rPr sz="1200" b="1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b="1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발표</a:t>
            </a:r>
            <a:r>
              <a:rPr sz="1200" b="1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 </a:t>
            </a:r>
            <a:r>
              <a:rPr sz="1200" b="1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시</a:t>
            </a:r>
            <a:endParaRPr sz="1200" b="1" dirty="0">
              <a:solidFill>
                <a:srgbClr val="0B0F1A">
                  <a:alpha val="40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DE0A8A-FCAC-4720-8CBC-096DA162A4FF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2797450" cy="2095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92F5A3-C537-4C2D-9C80-F3E6A3C65DCA}"/>
              </a:ext>
            </a:extLst>
          </p:cNvPr>
          <p:cNvSpPr>
            <a:spLocks noGrp="1"/>
          </p:cNvSpPr>
          <p:nvPr/>
        </p:nvSpPr>
        <p:spPr>
          <a:xfrm>
            <a:off x="1447800" y="49149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왼손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2F3B0E-B399-4F58-9C08-189AD9ECA481}"/>
              </a:ext>
            </a:extLst>
          </p:cNvPr>
          <p:cNvSpPr>
            <a:spLocks noGrp="1"/>
          </p:cNvSpPr>
          <p:nvPr/>
        </p:nvSpPr>
        <p:spPr>
          <a:xfrm>
            <a:off x="2261463" y="4914900"/>
            <a:ext cx="476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→ Tempo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0BDA66-FA97-4005-9F14-0E542A032379}"/>
              </a:ext>
            </a:extLst>
          </p:cNvPr>
          <p:cNvSpPr>
            <a:spLocks noGrp="1"/>
          </p:cNvSpPr>
          <p:nvPr/>
        </p:nvSpPr>
        <p:spPr>
          <a:xfrm>
            <a:off x="1447800" y="5543550"/>
            <a:ext cx="6057900" cy="9525"/>
          </a:xfrm>
          <a:prstGeom prst="rect">
            <a:avLst/>
          </a:prstGeom>
          <a:solidFill>
            <a:srgbClr val="0B0F1A">
              <a:alpha val="1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45167A-6422-4374-A8DD-69AA05B7D7E2}"/>
              </a:ext>
            </a:extLst>
          </p:cNvPr>
          <p:cNvSpPr>
            <a:spLocks noGrp="1"/>
          </p:cNvSpPr>
          <p:nvPr/>
        </p:nvSpPr>
        <p:spPr>
          <a:xfrm>
            <a:off x="1447800" y="58674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오른손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5D276-C371-4527-837F-928743FF143B}"/>
              </a:ext>
            </a:extLst>
          </p:cNvPr>
          <p:cNvSpPr>
            <a:spLocks noGrp="1"/>
          </p:cNvSpPr>
          <p:nvPr/>
        </p:nvSpPr>
        <p:spPr>
          <a:xfrm>
            <a:off x="2261463" y="5867400"/>
            <a:ext cx="476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→ Dynamics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C8ACB0-8A39-4D86-BC92-0B3D08826A2D}"/>
              </a:ext>
            </a:extLst>
          </p:cNvPr>
          <p:cNvSpPr>
            <a:spLocks noGrp="1"/>
          </p:cNvSpPr>
          <p:nvPr/>
        </p:nvSpPr>
        <p:spPr>
          <a:xfrm>
            <a:off x="4075414" y="5429250"/>
            <a:ext cx="76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6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360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CA9A44-E3A7-4743-9FFD-5E880B841501}"/>
              </a:ext>
            </a:extLst>
          </p:cNvPr>
          <p:cNvSpPr>
            <a:spLocks noGrp="1"/>
          </p:cNvSpPr>
          <p:nvPr/>
        </p:nvSpPr>
        <p:spPr>
          <a:xfrm>
            <a:off x="4961394" y="4191000"/>
            <a:ext cx="6667500" cy="209550"/>
          </a:xfrm>
          <a:prstGeom prst="rect">
            <a:avLst/>
          </a:prstGeom>
          <a:solidFill>
            <a:schemeClr val="tx1">
              <a:alpha val="0"/>
            </a:schemeClr>
          </a:solidFill>
          <a:ln w="0">
            <a:solidFill>
              <a:schemeClr val="tx1">
                <a:alpha val="0"/>
              </a:scheme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lang="en-US" sz="1200" b="1" dirty="0">
                <a:latin typeface="Menlo"/>
                <a:ea typeface="Menlo"/>
                <a:cs typeface="Menlo"/>
              </a:rPr>
              <a:t>now</a:t>
            </a:r>
            <a:r>
              <a:rPr sz="1200" b="1" dirty="0">
                <a:latin typeface="Menlo"/>
                <a:ea typeface="Menlo"/>
                <a:cs typeface="Menlo"/>
              </a:rPr>
              <a:t> · </a:t>
            </a:r>
            <a:r>
              <a:rPr lang="ko-KR" altLang="en-US" sz="1200" b="1" dirty="0">
                <a:latin typeface="Menlo"/>
                <a:ea typeface="Menlo"/>
                <a:cs typeface="Menlo"/>
              </a:rPr>
              <a:t>규칙 기반 프로토타입</a:t>
            </a:r>
            <a:endParaRPr sz="1200" b="1" dirty="0">
              <a:latin typeface="Menlo"/>
              <a:ea typeface="Menlo"/>
              <a:cs typeface="Menlo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429B6D-F035-46D1-BA7C-8968F273449D}"/>
              </a:ext>
            </a:extLst>
          </p:cNvPr>
          <p:cNvSpPr>
            <a:spLocks noGrp="1"/>
          </p:cNvSpPr>
          <p:nvPr/>
        </p:nvSpPr>
        <p:spPr>
          <a:xfrm>
            <a:off x="4961394" y="4457700"/>
            <a:ext cx="5367579" cy="20955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F9410E-0E6D-4543-98E2-60682B4B7777}"/>
              </a:ext>
            </a:extLst>
          </p:cNvPr>
          <p:cNvSpPr>
            <a:spLocks noGrp="1"/>
          </p:cNvSpPr>
          <p:nvPr/>
        </p:nvSpPr>
        <p:spPr>
          <a:xfrm>
            <a:off x="5266194" y="49149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 dirty="0" err="1">
                <a:latin typeface="Pretendard"/>
                <a:ea typeface="Pretendard"/>
                <a:cs typeface="Pretendard"/>
              </a:rPr>
              <a:t>오른손</a:t>
            </a:r>
            <a:endParaRPr sz="165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7D5E1C-069C-49B2-82E1-5D3C0C1522F4}"/>
              </a:ext>
            </a:extLst>
          </p:cNvPr>
          <p:cNvSpPr>
            <a:spLocks noGrp="1"/>
          </p:cNvSpPr>
          <p:nvPr/>
        </p:nvSpPr>
        <p:spPr>
          <a:xfrm>
            <a:off x="6037881" y="491490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latin typeface="Pretendard"/>
                <a:ea typeface="Pretendard"/>
                <a:cs typeface="Pretendard"/>
              </a:rPr>
              <a:t>→ Tempo (velocity) · </a:t>
            </a:r>
            <a:r>
              <a:rPr lang="en-US" sz="1650" dirty="0">
                <a:latin typeface="Pretendard"/>
                <a:ea typeface="Pretendard"/>
                <a:cs typeface="Pretendard"/>
              </a:rPr>
              <a:t>Volume</a:t>
            </a:r>
            <a:r>
              <a:rPr sz="1650" b="0" dirty="0">
                <a:latin typeface="Pretendard"/>
                <a:ea typeface="Pretendard"/>
                <a:cs typeface="Pretendard"/>
              </a:rPr>
              <a:t> (</a:t>
            </a:r>
            <a:r>
              <a:rPr sz="1650" b="0" dirty="0" err="1">
                <a:latin typeface="Pretendard"/>
                <a:ea typeface="Pretendard"/>
                <a:cs typeface="Pretendard"/>
              </a:rPr>
              <a:t>동작의</a:t>
            </a:r>
            <a:r>
              <a:rPr sz="1650" b="0" dirty="0"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latin typeface="Pretendard"/>
                <a:ea typeface="Pretendard"/>
                <a:cs typeface="Pretendard"/>
              </a:rPr>
              <a:t>크기</a:t>
            </a:r>
            <a:r>
              <a:rPr sz="1650" b="0" dirty="0"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84E060-271B-48AF-B68B-AE6143AFA5AF}"/>
              </a:ext>
            </a:extLst>
          </p:cNvPr>
          <p:cNvSpPr>
            <a:spLocks noGrp="1"/>
          </p:cNvSpPr>
          <p:nvPr/>
        </p:nvSpPr>
        <p:spPr>
          <a:xfrm>
            <a:off x="5669150" y="5543550"/>
            <a:ext cx="6057900" cy="9525"/>
          </a:xfrm>
          <a:prstGeom prst="rect">
            <a:avLst/>
          </a:prstGeom>
          <a:solidFill>
            <a:srgbClr val="0B0F1A">
              <a:alpha val="1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6321BF-5B7E-4529-B03E-272D9F8459AD}"/>
              </a:ext>
            </a:extLst>
          </p:cNvPr>
          <p:cNvSpPr>
            <a:spLocks noGrp="1"/>
          </p:cNvSpPr>
          <p:nvPr/>
        </p:nvSpPr>
        <p:spPr>
          <a:xfrm>
            <a:off x="5266194" y="58674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latin typeface="Pretendard"/>
                <a:ea typeface="Pretendard"/>
                <a:cs typeface="Pretendard"/>
              </a:rPr>
              <a:t>왼손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2CB2DF-8798-4C2F-9E4E-BE71F187AF2B}"/>
              </a:ext>
            </a:extLst>
          </p:cNvPr>
          <p:cNvSpPr>
            <a:spLocks noGrp="1"/>
          </p:cNvSpPr>
          <p:nvPr/>
        </p:nvSpPr>
        <p:spPr>
          <a:xfrm>
            <a:off x="6037881" y="58674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latin typeface="Pretendard"/>
                <a:ea typeface="Pretendard"/>
                <a:cs typeface="Pretendard"/>
              </a:rPr>
              <a:t>→ </a:t>
            </a:r>
            <a:r>
              <a:rPr sz="1650" b="0" dirty="0" err="1">
                <a:latin typeface="Pretendard"/>
                <a:ea typeface="Pretendard"/>
                <a:cs typeface="Pretendard"/>
              </a:rPr>
              <a:t>악기</a:t>
            </a:r>
            <a:r>
              <a:rPr sz="1650" b="0" dirty="0"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latin typeface="Pretendard"/>
                <a:ea typeface="Pretendard"/>
                <a:cs typeface="Pretendard"/>
              </a:rPr>
              <a:t>선택</a:t>
            </a:r>
            <a:endParaRPr sz="1650" b="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1B60F-BF72-4AB3-8113-36522135473B}"/>
              </a:ext>
            </a:extLst>
          </p:cNvPr>
          <p:cNvSpPr>
            <a:spLocks noGrp="1"/>
          </p:cNvSpPr>
          <p:nvPr/>
        </p:nvSpPr>
        <p:spPr>
          <a:xfrm>
            <a:off x="1143000" y="7905750"/>
            <a:ext cx="914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Rationale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181A91-D97F-4284-8F6B-9B4C51A2ED19}"/>
              </a:ext>
            </a:extLst>
          </p:cNvPr>
          <p:cNvSpPr>
            <a:spLocks noGrp="1"/>
          </p:cNvSpPr>
          <p:nvPr/>
        </p:nvSpPr>
        <p:spPr>
          <a:xfrm>
            <a:off x="1143000" y="8191500"/>
            <a:ext cx="9144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지휘자는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오른손으로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박자와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강약을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표현하고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왼손은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파트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큐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(cue)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담당합니다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관습을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차용해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부담을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줄이고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친숙한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인터페이스를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제공합니다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D5FC51-B303-4A5C-96E1-32045C6181DA}"/>
              </a:ext>
            </a:extLst>
          </p:cNvPr>
          <p:cNvSpPr>
            <a:spLocks noGrp="1"/>
          </p:cNvSpPr>
          <p:nvPr/>
        </p:nvSpPr>
        <p:spPr>
          <a:xfrm>
            <a:off x="1143000" y="9239250"/>
            <a:ext cx="1600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0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참고</a:t>
            </a:r>
            <a:r>
              <a:rPr sz="1200" b="0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 · mynews250612.tistory.com/39 / </a:t>
            </a:r>
            <a:r>
              <a:rPr sz="1200" b="0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namu.wiki</a:t>
            </a:r>
            <a:r>
              <a:rPr sz="1200" b="0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/w/</a:t>
            </a:r>
            <a:r>
              <a:rPr sz="1200" b="0" dirty="0" err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지휘자</a:t>
            </a:r>
            <a:endParaRPr sz="1200" b="0" dirty="0">
              <a:solidFill>
                <a:srgbClr val="0B0F1A">
                  <a:alpha val="40000"/>
                </a:srgbClr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752402-31DB-4BA8-BA15-0A8F816D8853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04 / 09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278F870-9BA1-CBAF-9D40-8409811614E7}"/>
              </a:ext>
            </a:extLst>
          </p:cNvPr>
          <p:cNvSpPr>
            <a:spLocks noGrp="1"/>
          </p:cNvSpPr>
          <p:nvPr/>
        </p:nvSpPr>
        <p:spPr>
          <a:xfrm>
            <a:off x="11257579" y="4191000"/>
            <a:ext cx="666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lang="en" sz="1200" b="1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After</a:t>
            </a:r>
            <a:r>
              <a:rPr sz="1200" b="1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 · </a:t>
            </a:r>
            <a:r>
              <a:rPr lang="ko-KR" altLang="en-US" sz="1200" b="1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딥러닝 기반 실제 지휘 동작 반영</a:t>
            </a:r>
            <a:endParaRPr sz="1200" b="1" dirty="0">
              <a:solidFill>
                <a:srgbClr val="2A2F8F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7DD3A4-9CD3-EF0A-FF7D-8C4DB2943B0F}"/>
              </a:ext>
            </a:extLst>
          </p:cNvPr>
          <p:cNvSpPr>
            <a:spLocks noGrp="1"/>
          </p:cNvSpPr>
          <p:nvPr/>
        </p:nvSpPr>
        <p:spPr>
          <a:xfrm>
            <a:off x="11257579" y="4457700"/>
            <a:ext cx="5367579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7684E3-5ACF-E5FB-157C-C837267F6B4C}"/>
              </a:ext>
            </a:extLst>
          </p:cNvPr>
          <p:cNvSpPr>
            <a:spLocks noGrp="1"/>
          </p:cNvSpPr>
          <p:nvPr/>
        </p:nvSpPr>
        <p:spPr>
          <a:xfrm>
            <a:off x="11562379" y="49149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오른손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1E0383-082C-D02E-BE78-51E39B420F9F}"/>
              </a:ext>
            </a:extLst>
          </p:cNvPr>
          <p:cNvSpPr>
            <a:spLocks noGrp="1"/>
          </p:cNvSpPr>
          <p:nvPr/>
        </p:nvSpPr>
        <p:spPr>
          <a:xfrm>
            <a:off x="12411560" y="491490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ko-KR" sz="1650" dirty="0"/>
              <a:t>Global </a:t>
            </a:r>
            <a:r>
              <a:rPr lang="ko-KR" altLang="ko-KR" sz="1650" dirty="0" err="1"/>
              <a:t>conducting</a:t>
            </a:r>
            <a:endParaRPr lang="en-US" altLang="ko-KR" sz="16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6A00E3-CDBD-5548-0E7C-037837ED6BB0}"/>
              </a:ext>
            </a:extLst>
          </p:cNvPr>
          <p:cNvSpPr>
            <a:spLocks noGrp="1"/>
          </p:cNvSpPr>
          <p:nvPr/>
        </p:nvSpPr>
        <p:spPr>
          <a:xfrm>
            <a:off x="12616264" y="5543550"/>
            <a:ext cx="6057900" cy="9525"/>
          </a:xfrm>
          <a:prstGeom prst="rect">
            <a:avLst/>
          </a:prstGeom>
          <a:solidFill>
            <a:srgbClr val="0B0F1A">
              <a:alpha val="1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677A702-7779-2C83-4219-F2AABC854383}"/>
              </a:ext>
            </a:extLst>
          </p:cNvPr>
          <p:cNvSpPr>
            <a:spLocks noGrp="1"/>
          </p:cNvSpPr>
          <p:nvPr/>
        </p:nvSpPr>
        <p:spPr>
          <a:xfrm>
            <a:off x="11562379" y="58674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왼손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4F2A57-30A2-5A5F-A79E-04FB083ECAD6}"/>
              </a:ext>
            </a:extLst>
          </p:cNvPr>
          <p:cNvSpPr>
            <a:spLocks noGrp="1"/>
          </p:cNvSpPr>
          <p:nvPr/>
        </p:nvSpPr>
        <p:spPr>
          <a:xfrm>
            <a:off x="12411560" y="58674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ko-KR" sz="1650" dirty="0" err="1"/>
              <a:t>Instrument-level</a:t>
            </a:r>
            <a:r>
              <a:rPr lang="ko-KR" altLang="ko-KR" sz="1650" dirty="0"/>
              <a:t> </a:t>
            </a:r>
            <a:r>
              <a:rPr lang="ko-KR" altLang="ko-KR" sz="1650" dirty="0" err="1"/>
              <a:t>control</a:t>
            </a:r>
            <a:endParaRPr sz="16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61A3A1-E7E9-F3B5-149F-FFC1ED9B66DD}"/>
              </a:ext>
            </a:extLst>
          </p:cNvPr>
          <p:cNvSpPr>
            <a:spLocks noGrp="1"/>
          </p:cNvSpPr>
          <p:nvPr/>
        </p:nvSpPr>
        <p:spPr>
          <a:xfrm>
            <a:off x="10412919" y="5424488"/>
            <a:ext cx="76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6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360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5246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0992D2BD-AD92-4211-AB51-132634662740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02 / 중간 결과물 · 4-2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FAB794-9FE4-4755-B469-333C331D875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구현된 파이프라인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35558E-B410-44CF-937F-2818FC1678C2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600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Wrist ·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Handmark의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pixel velocity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rule</a:t>
            </a:r>
            <a:r>
              <a:rPr lang="ko-KR" altLang="en-US"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algorithm으로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end-to-end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demo를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확보했습니다</a:t>
            </a:r>
            <a:r>
              <a:rPr sz="19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F395C2-7616-4EE1-9D92-B873A05EDE18}"/>
              </a:ext>
            </a:extLst>
          </p:cNvPr>
          <p:cNvSpPr>
            <a:spLocks noGrp="1"/>
          </p:cNvSpPr>
          <p:nvPr/>
        </p:nvSpPr>
        <p:spPr>
          <a:xfrm>
            <a:off x="1143000" y="3568809"/>
            <a:ext cx="4762500" cy="1714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1C4F9A-8EED-426F-AD5C-3196C976928F}"/>
              </a:ext>
            </a:extLst>
          </p:cNvPr>
          <p:cNvSpPr>
            <a:spLocks noGrp="1"/>
          </p:cNvSpPr>
          <p:nvPr/>
        </p:nvSpPr>
        <p:spPr>
          <a:xfrm>
            <a:off x="1409700" y="3740259"/>
            <a:ext cx="422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STEP 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60BAE3-4626-44BD-AE9C-6569A729B46F}"/>
              </a:ext>
            </a:extLst>
          </p:cNvPr>
          <p:cNvSpPr>
            <a:spLocks noGrp="1"/>
          </p:cNvSpPr>
          <p:nvPr/>
        </p:nvSpPr>
        <p:spPr>
          <a:xfrm>
            <a:off x="1409700" y="3968859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손 좌표 추출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60F370-5B29-45AE-B9E1-9710984F0A21}"/>
              </a:ext>
            </a:extLst>
          </p:cNvPr>
          <p:cNvSpPr>
            <a:spLocks noGrp="1"/>
          </p:cNvSpPr>
          <p:nvPr/>
        </p:nvSpPr>
        <p:spPr>
          <a:xfrm>
            <a:off x="1409700" y="4387959"/>
            <a:ext cx="42291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MediaPipe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Handmark로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21개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랜드마크의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픽셀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좌표를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프레임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단위로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추출</a:t>
            </a:r>
            <a:endParaRPr sz="13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9AFA45-ECCF-40B9-816C-EA4B71583523}"/>
              </a:ext>
            </a:extLst>
          </p:cNvPr>
          <p:cNvSpPr>
            <a:spLocks noGrp="1"/>
          </p:cNvSpPr>
          <p:nvPr/>
        </p:nvSpPr>
        <p:spPr>
          <a:xfrm>
            <a:off x="6048375" y="4140309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9F7E3B-01FE-4435-9755-FFB7F0C29D6A}"/>
              </a:ext>
            </a:extLst>
          </p:cNvPr>
          <p:cNvSpPr>
            <a:spLocks noGrp="1"/>
          </p:cNvSpPr>
          <p:nvPr/>
        </p:nvSpPr>
        <p:spPr>
          <a:xfrm>
            <a:off x="6858000" y="3568809"/>
            <a:ext cx="4762500" cy="17145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F6EFB0-AD4E-45C5-AFB4-B8157581D102}"/>
              </a:ext>
            </a:extLst>
          </p:cNvPr>
          <p:cNvSpPr>
            <a:spLocks noGrp="1"/>
          </p:cNvSpPr>
          <p:nvPr/>
        </p:nvSpPr>
        <p:spPr>
          <a:xfrm>
            <a:off x="7124700" y="3740259"/>
            <a:ext cx="422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STEP 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369DDF-7DE7-4311-A27E-688E991B54AB}"/>
              </a:ext>
            </a:extLst>
          </p:cNvPr>
          <p:cNvSpPr>
            <a:spLocks noGrp="1"/>
          </p:cNvSpPr>
          <p:nvPr/>
        </p:nvSpPr>
        <p:spPr>
          <a:xfrm>
            <a:off x="7124700" y="3968859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Velocity 계산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51CC44-3DA5-496C-B016-4778641A2979}"/>
              </a:ext>
            </a:extLst>
          </p:cNvPr>
          <p:cNvSpPr>
            <a:spLocks noGrp="1"/>
          </p:cNvSpPr>
          <p:nvPr/>
        </p:nvSpPr>
        <p:spPr>
          <a:xfrm>
            <a:off x="7124700" y="4387959"/>
            <a:ext cx="42291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Wrist의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단위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시간당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이동량으로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tempo를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동작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반경으로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dynamics를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추정</a:t>
            </a:r>
            <a:endParaRPr sz="13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372EC7-672A-40BE-B873-BE08D38708FB}"/>
              </a:ext>
            </a:extLst>
          </p:cNvPr>
          <p:cNvSpPr>
            <a:spLocks noGrp="1"/>
          </p:cNvSpPr>
          <p:nvPr/>
        </p:nvSpPr>
        <p:spPr>
          <a:xfrm>
            <a:off x="11763375" y="4140309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F47473-B921-4EB1-A4F6-FFD767AB8A82}"/>
              </a:ext>
            </a:extLst>
          </p:cNvPr>
          <p:cNvSpPr>
            <a:spLocks noGrp="1"/>
          </p:cNvSpPr>
          <p:nvPr/>
        </p:nvSpPr>
        <p:spPr>
          <a:xfrm>
            <a:off x="12573000" y="3568809"/>
            <a:ext cx="4762500" cy="1714500"/>
          </a:xfrm>
          <a:prstGeom prst="rect">
            <a:avLst/>
          </a:prstGeom>
          <a:solidFill>
            <a:srgbClr val="0B0F1A">
              <a:alpha val="5000"/>
            </a:srgbClr>
          </a:solidFill>
          <a:ln w="19050">
            <a:solidFill>
              <a:srgbClr val="2A2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8EDF49-F28B-44A9-8EC5-2A286ED2A500}"/>
              </a:ext>
            </a:extLst>
          </p:cNvPr>
          <p:cNvSpPr>
            <a:spLocks noGrp="1"/>
          </p:cNvSpPr>
          <p:nvPr/>
        </p:nvSpPr>
        <p:spPr>
          <a:xfrm>
            <a:off x="12839700" y="3740259"/>
            <a:ext cx="422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STEP 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5BD059-298A-4C19-87D2-EA2D71511EA1}"/>
              </a:ext>
            </a:extLst>
          </p:cNvPr>
          <p:cNvSpPr>
            <a:spLocks noGrp="1"/>
          </p:cNvSpPr>
          <p:nvPr/>
        </p:nvSpPr>
        <p:spPr>
          <a:xfrm>
            <a:off x="12839700" y="3968859"/>
            <a:ext cx="422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95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WAV </a:t>
            </a:r>
            <a:r>
              <a:rPr sz="195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제어</a:t>
            </a:r>
            <a:r>
              <a:rPr sz="195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95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출력</a:t>
            </a:r>
            <a:endParaRPr sz="195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267820-8FA0-4EAD-B516-24968E4A50BD}"/>
              </a:ext>
            </a:extLst>
          </p:cNvPr>
          <p:cNvSpPr>
            <a:spLocks noGrp="1"/>
          </p:cNvSpPr>
          <p:nvPr/>
        </p:nvSpPr>
        <p:spPr>
          <a:xfrm>
            <a:off x="12839700" y="4387959"/>
            <a:ext cx="42291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추정된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tempo · dynamics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값으로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wav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파일의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재생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속도와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볼륨을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실시간</a:t>
            </a:r>
            <a:r>
              <a:rPr sz="13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변조</a:t>
            </a:r>
            <a:endParaRPr sz="13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B7E0A3-C15C-4DC6-9454-595708B90690}"/>
              </a:ext>
            </a:extLst>
          </p:cNvPr>
          <p:cNvSpPr>
            <a:spLocks noGrp="1"/>
          </p:cNvSpPr>
          <p:nvPr/>
        </p:nvSpPr>
        <p:spPr>
          <a:xfrm>
            <a:off x="1143000" y="5765692"/>
            <a:ext cx="1600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Demo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E48816-65DE-40C1-B528-15C81346E2A5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B786E1-364F-4A0F-8A59-8B97C6CADB3D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05 / 09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6117D8D-762E-7201-1CD3-061BD5C82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5" y="5613618"/>
            <a:ext cx="6096000" cy="35687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5786935-7DF0-49FF-1BFF-A1023A2F3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00" y="5613618"/>
            <a:ext cx="6096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8BF616-70F7-44D8-A39C-BED044599DEC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03 / Remaining Work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152BFE-52E9-4A8C-AD23-8182D149EAEF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남은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6DC11C-F640-464F-B90F-D8306EAEEE7F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600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현재의 rule-based control을 baseline으로 두고, 학습 기반 모델이 이를 보정·대체하는 방향으로 확장합니다.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1BE94D-298D-4933-BCB0-D226E0F94E6D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7ABA8E-CD71-4000-8ACA-2A871C76D3F1}"/>
              </a:ext>
            </a:extLst>
          </p:cNvPr>
          <p:cNvSpPr>
            <a:spLocks noGrp="1"/>
          </p:cNvSpPr>
          <p:nvPr/>
        </p:nvSpPr>
        <p:spPr>
          <a:xfrm>
            <a:off x="1714500" y="4124325"/>
            <a:ext cx="704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7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MIDI </a:t>
            </a:r>
            <a:r>
              <a:rPr sz="27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악기</a:t>
            </a:r>
            <a:r>
              <a:rPr sz="27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연결</a:t>
            </a:r>
            <a:endParaRPr sz="27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59CBFB-3902-4405-8845-D15EA19DCC33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7620000" cy="14288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52EB8F-6705-4488-9E23-3810BC18723A}"/>
              </a:ext>
            </a:extLst>
          </p:cNvPr>
          <p:cNvSpPr>
            <a:spLocks noGrp="1"/>
          </p:cNvSpPr>
          <p:nvPr/>
        </p:nvSpPr>
        <p:spPr>
          <a:xfrm>
            <a:off x="1143000" y="4991100"/>
            <a:ext cx="76200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60000"/>
              </a:lnSpc>
              <a:buNone/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wav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파일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제어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단계에서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실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MIDI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악기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트랙으로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출력을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확장합니다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endParaRPr sz="16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60000"/>
              </a:lnSpc>
              <a:buNone/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왼손의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악기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모션을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추가하여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사용자가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특정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파트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현악·관악·타악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지목해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강조하거나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큐를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있도록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6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60000"/>
              </a:lnSpc>
              <a:buNone/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endParaRPr lang="en-US" sz="165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Midi - </a:t>
            </a:r>
            <a:r>
              <a:rPr lang="ko-KR" altLang="en-US" sz="165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차이코프스키 호두까기인형 행진곡</a:t>
            </a:r>
            <a:endParaRPr lang="en-US" sz="165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총 노트 수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 4,443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개 </a:t>
            </a: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각 노트에 </a:t>
            </a:r>
            <a:r>
              <a:rPr lang="en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Velocity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범위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 45–100) </a:t>
            </a: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악기별 채널 볼륨 </a:t>
            </a:r>
            <a:r>
              <a:rPr lang="en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CC7</a:t>
            </a:r>
            <a:endParaRPr lang="ko-KR" altLang="en-US" sz="12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표현 컨트롤 </a:t>
            </a:r>
            <a:r>
              <a:rPr lang="en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CC11(Expression)</a:t>
            </a:r>
            <a:r>
              <a:rPr 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: 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790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개 </a:t>
            </a:r>
            <a:endParaRPr lang="en-US" altLang="ko-KR" sz="12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60000"/>
              </a:lnSpc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악기 트랙 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14</a:t>
            </a:r>
            <a:r>
              <a:rPr lang="ko-KR" altLang="en-US" sz="12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0A3379-16C9-4F3E-8A0F-538B8A08E719}"/>
              </a:ext>
            </a:extLst>
          </p:cNvPr>
          <p:cNvSpPr>
            <a:spLocks noGrp="1"/>
          </p:cNvSpPr>
          <p:nvPr/>
        </p:nvSpPr>
        <p:spPr>
          <a:xfrm>
            <a:off x="9144000" y="4191000"/>
            <a:ext cx="9525" cy="4191000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2F7E28-2B6A-48D0-BA28-B50D4434E64D}"/>
              </a:ext>
            </a:extLst>
          </p:cNvPr>
          <p:cNvSpPr>
            <a:spLocks noGrp="1"/>
          </p:cNvSpPr>
          <p:nvPr/>
        </p:nvSpPr>
        <p:spPr>
          <a:xfrm>
            <a:off x="9525000" y="41910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BE2078-E1AE-4D87-B456-C546AEA6789A}"/>
              </a:ext>
            </a:extLst>
          </p:cNvPr>
          <p:cNvSpPr>
            <a:spLocks noGrp="1"/>
          </p:cNvSpPr>
          <p:nvPr/>
        </p:nvSpPr>
        <p:spPr>
          <a:xfrm>
            <a:off x="10096500" y="4124325"/>
            <a:ext cx="666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27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Gesture Recognition Model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490B2D-2C14-4966-B441-5687C1F7954A}"/>
              </a:ext>
            </a:extLst>
          </p:cNvPr>
          <p:cNvSpPr>
            <a:spLocks noGrp="1"/>
          </p:cNvSpPr>
          <p:nvPr/>
        </p:nvSpPr>
        <p:spPr>
          <a:xfrm>
            <a:off x="9525000" y="4762500"/>
            <a:ext cx="7620000" cy="14288"/>
          </a:xfrm>
          <a:prstGeom prst="rect">
            <a:avLst/>
          </a:prstGeom>
          <a:solidFill>
            <a:srgbClr val="0B0F1A">
              <a:alpha val="2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EE2E40-13BD-4599-8E99-38AF278D16AA}"/>
              </a:ext>
            </a:extLst>
          </p:cNvPr>
          <p:cNvSpPr>
            <a:spLocks noGrp="1"/>
          </p:cNvSpPr>
          <p:nvPr/>
        </p:nvSpPr>
        <p:spPr>
          <a:xfrm>
            <a:off x="9525000" y="4991100"/>
            <a:ext cx="76200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60000"/>
              </a:lnSpc>
              <a:buNone/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Rule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algorithm으로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어떤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feature가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tempo · dynamics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제어에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유효한지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확인했고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endParaRPr sz="165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60000"/>
              </a:lnSpc>
              <a:buNone/>
              <a:defRPr sz="16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이를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바탕으로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데이터셋을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구축하고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작은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regression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학습시켜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rule-based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control을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대체·보정합니다</a:t>
            </a:r>
            <a:r>
              <a:rPr sz="165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6281DF-75A2-43B1-B046-EC08FD660C4E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B9D6C-E38B-4DDB-8B2D-5BF587DF6860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30138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96075F-498D-4602-BE19-1F283BC6696A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03 / Remaining · 5-1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9EF925-418E-490C-B96B-9B9A37D58C95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데이터셋 구성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6DB2FB-2E02-4218-932C-AE4F0C4FE7CD}"/>
              </a:ext>
            </a:extLst>
          </p:cNvPr>
          <p:cNvSpPr>
            <a:spLocks noGrp="1"/>
          </p:cNvSpPr>
          <p:nvPr/>
        </p:nvSpPr>
        <p:spPr>
          <a:xfrm>
            <a:off x="693558" y="3238500"/>
            <a:ext cx="4953000" cy="28575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43FE8B-259D-470B-81E6-61F0BDCACFE8}"/>
              </a:ext>
            </a:extLst>
          </p:cNvPr>
          <p:cNvSpPr>
            <a:spLocks noGrp="1"/>
          </p:cNvSpPr>
          <p:nvPr/>
        </p:nvSpPr>
        <p:spPr>
          <a:xfrm>
            <a:off x="693558" y="3505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SCALE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FA1145-4CB4-4A08-873F-0A44D09B8B3C}"/>
              </a:ext>
            </a:extLst>
          </p:cNvPr>
          <p:cNvSpPr>
            <a:spLocks noGrp="1"/>
          </p:cNvSpPr>
          <p:nvPr/>
        </p:nvSpPr>
        <p:spPr>
          <a:xfrm>
            <a:off x="693558" y="3905250"/>
            <a:ext cx="495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6300" b="0">
                <a:solidFill>
                  <a:srgbClr val="0B0F1A"/>
                </a:solidFill>
                <a:latin typeface="Menlo"/>
                <a:ea typeface="Menlo"/>
                <a:cs typeface="Menlo"/>
              </a:defRPr>
            </a:pPr>
            <a:r>
              <a:rPr sz="6300" b="0" dirty="0">
                <a:solidFill>
                  <a:srgbClr val="0B0F1A"/>
                </a:solidFill>
                <a:latin typeface="Menlo"/>
                <a:ea typeface="Menlo"/>
                <a:cs typeface="Menlo"/>
              </a:rPr>
              <a:t>5 × 1h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EF668A-799F-49EF-8B85-B49E031D3426}"/>
              </a:ext>
            </a:extLst>
          </p:cNvPr>
          <p:cNvSpPr>
            <a:spLocks noGrp="1"/>
          </p:cNvSpPr>
          <p:nvPr/>
        </p:nvSpPr>
        <p:spPr>
          <a:xfrm>
            <a:off x="693558" y="5191130"/>
            <a:ext cx="495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5명의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피험자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각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1시간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분량의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손동작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시퀀스</a:t>
            </a:r>
            <a:endParaRPr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18B622-921C-49BC-8331-7136EAA72164}"/>
              </a:ext>
            </a:extLst>
          </p:cNvPr>
          <p:cNvSpPr>
            <a:spLocks noGrp="1"/>
          </p:cNvSpPr>
          <p:nvPr/>
        </p:nvSpPr>
        <p:spPr>
          <a:xfrm>
            <a:off x="6789558" y="3238500"/>
            <a:ext cx="4953000" cy="28575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35C58E-A35E-4D69-A00A-B3ADF7721B2D}"/>
              </a:ext>
            </a:extLst>
          </p:cNvPr>
          <p:cNvSpPr>
            <a:spLocks noGrp="1"/>
          </p:cNvSpPr>
          <p:nvPr/>
        </p:nvSpPr>
        <p:spPr>
          <a:xfrm>
            <a:off x="6789558" y="3505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LABEL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13799C-859B-4897-8417-7253C5A81D93}"/>
              </a:ext>
            </a:extLst>
          </p:cNvPr>
          <p:cNvSpPr>
            <a:spLocks noGrp="1"/>
          </p:cNvSpPr>
          <p:nvPr/>
        </p:nvSpPr>
        <p:spPr>
          <a:xfrm>
            <a:off x="6789558" y="3905250"/>
            <a:ext cx="495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6300" b="0">
                <a:solidFill>
                  <a:srgbClr val="0B0F1A"/>
                </a:solidFill>
                <a:latin typeface="Menlo"/>
                <a:ea typeface="Menlo"/>
                <a:cs typeface="Menlo"/>
              </a:defRPr>
            </a:pPr>
            <a:r>
              <a:rPr sz="6300" b="0" dirty="0">
                <a:solidFill>
                  <a:srgbClr val="0B0F1A"/>
                </a:solidFill>
                <a:latin typeface="Menlo"/>
                <a:ea typeface="Menlo"/>
                <a:cs typeface="Menlo"/>
              </a:rPr>
              <a:t>6 classes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885D96-5171-4F22-8AA3-AAFB3387D93D}"/>
              </a:ext>
            </a:extLst>
          </p:cNvPr>
          <p:cNvSpPr>
            <a:spLocks noGrp="1"/>
          </p:cNvSpPr>
          <p:nvPr/>
        </p:nvSpPr>
        <p:spPr>
          <a:xfrm>
            <a:off x="6789558" y="5191130"/>
            <a:ext cx="495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Tempo 6단계 classification + dynamics </a:t>
            </a:r>
            <a:r>
              <a:rPr sz="1500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값</a:t>
            </a:r>
            <a:r>
              <a:rPr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regression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7D8E03-B990-4FD7-9180-90AF511703DB}"/>
              </a:ext>
            </a:extLst>
          </p:cNvPr>
          <p:cNvSpPr>
            <a:spLocks noGrp="1"/>
          </p:cNvSpPr>
          <p:nvPr/>
        </p:nvSpPr>
        <p:spPr>
          <a:xfrm>
            <a:off x="12885558" y="3238500"/>
            <a:ext cx="4953000" cy="28575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14E359-A142-4509-981B-9EC4BD48463F}"/>
              </a:ext>
            </a:extLst>
          </p:cNvPr>
          <p:cNvSpPr>
            <a:spLocks noGrp="1"/>
          </p:cNvSpPr>
          <p:nvPr/>
        </p:nvSpPr>
        <p:spPr>
          <a:xfrm>
            <a:off x="12885558" y="3505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lang="en" altLang="ko-KR" sz="1350" b="1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Gesture</a:t>
            </a:r>
            <a:endParaRPr sz="1350" b="1" dirty="0">
              <a:solidFill>
                <a:srgbClr val="2A2F8F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052B22-B073-44BD-920A-4C7145F8DF82}"/>
              </a:ext>
            </a:extLst>
          </p:cNvPr>
          <p:cNvSpPr>
            <a:spLocks noGrp="1"/>
          </p:cNvSpPr>
          <p:nvPr/>
        </p:nvSpPr>
        <p:spPr>
          <a:xfrm>
            <a:off x="1143000" y="6858000"/>
            <a:ext cx="914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Processing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A38855-E6CF-484F-B8A4-EDA3BBBDE3BF}"/>
              </a:ext>
            </a:extLst>
          </p:cNvPr>
          <p:cNvSpPr>
            <a:spLocks noGrp="1"/>
          </p:cNvSpPr>
          <p:nvPr/>
        </p:nvSpPr>
        <p:spPr>
          <a:xfrm>
            <a:off x="1143000" y="7239000"/>
            <a:ext cx="1905000" cy="51435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631F2B-5557-4260-928B-AA3D9ED59A1A}"/>
              </a:ext>
            </a:extLst>
          </p:cNvPr>
          <p:cNvSpPr>
            <a:spLocks noGrp="1"/>
          </p:cNvSpPr>
          <p:nvPr/>
        </p:nvSpPr>
        <p:spPr>
          <a:xfrm>
            <a:off x="1143000" y="73533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Raw Sequences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9B965C-CB31-4E02-B00A-8332B86E3F82}"/>
              </a:ext>
            </a:extLst>
          </p:cNvPr>
          <p:cNvSpPr>
            <a:spLocks noGrp="1"/>
          </p:cNvSpPr>
          <p:nvPr/>
        </p:nvSpPr>
        <p:spPr>
          <a:xfrm>
            <a:off x="3041904" y="7386828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65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A2EE20-9020-458A-B52F-221347AEFF09}"/>
              </a:ext>
            </a:extLst>
          </p:cNvPr>
          <p:cNvSpPr>
            <a:spLocks noGrp="1"/>
          </p:cNvSpPr>
          <p:nvPr/>
        </p:nvSpPr>
        <p:spPr>
          <a:xfrm>
            <a:off x="3333750" y="7239000"/>
            <a:ext cx="1905000" cy="51435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F9CB29-F072-4E8A-9E7F-6EF8D92B4CF7}"/>
              </a:ext>
            </a:extLst>
          </p:cNvPr>
          <p:cNvSpPr>
            <a:spLocks noGrp="1"/>
          </p:cNvSpPr>
          <p:nvPr/>
        </p:nvSpPr>
        <p:spPr>
          <a:xfrm>
            <a:off x="3333750" y="73533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Normalization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A34706-C888-4D0E-94F9-ACB5CAEAC61A}"/>
              </a:ext>
            </a:extLst>
          </p:cNvPr>
          <p:cNvSpPr>
            <a:spLocks noGrp="1"/>
          </p:cNvSpPr>
          <p:nvPr/>
        </p:nvSpPr>
        <p:spPr>
          <a:xfrm>
            <a:off x="5241798" y="7377684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FD9569-1711-459F-BE58-CA81DA3BA20D}"/>
              </a:ext>
            </a:extLst>
          </p:cNvPr>
          <p:cNvSpPr>
            <a:spLocks noGrp="1"/>
          </p:cNvSpPr>
          <p:nvPr/>
        </p:nvSpPr>
        <p:spPr>
          <a:xfrm>
            <a:off x="5524500" y="7239000"/>
            <a:ext cx="1905000" cy="51435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8085D8-B643-42CE-84CA-CC989BCB88F7}"/>
              </a:ext>
            </a:extLst>
          </p:cNvPr>
          <p:cNvSpPr>
            <a:spLocks noGrp="1"/>
          </p:cNvSpPr>
          <p:nvPr/>
        </p:nvSpPr>
        <p:spPr>
          <a:xfrm>
            <a:off x="5524500" y="73533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Augmentation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8D8DA6-E4BB-4DB9-8CE0-07E438ED290F}"/>
              </a:ext>
            </a:extLst>
          </p:cNvPr>
          <p:cNvSpPr>
            <a:spLocks noGrp="1"/>
          </p:cNvSpPr>
          <p:nvPr/>
        </p:nvSpPr>
        <p:spPr>
          <a:xfrm>
            <a:off x="7478268" y="736854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65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→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04D592-3067-4E3D-B1A9-F4089C0C68C6}"/>
              </a:ext>
            </a:extLst>
          </p:cNvPr>
          <p:cNvSpPr>
            <a:spLocks noGrp="1"/>
          </p:cNvSpPr>
          <p:nvPr/>
        </p:nvSpPr>
        <p:spPr>
          <a:xfrm>
            <a:off x="7810500" y="7239000"/>
            <a:ext cx="28575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5D3339-2FB1-4D9D-A18A-5F3FBCA770EC}"/>
              </a:ext>
            </a:extLst>
          </p:cNvPr>
          <p:cNvSpPr>
            <a:spLocks noGrp="1"/>
          </p:cNvSpPr>
          <p:nvPr/>
        </p:nvSpPr>
        <p:spPr>
          <a:xfrm>
            <a:off x="7810500" y="73533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2A2F8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A2F8F"/>
                </a:solidFill>
                <a:latin typeface="Pretendard"/>
                <a:ea typeface="Pretendard"/>
                <a:cs typeface="Pretendard"/>
              </a:rPr>
              <a:t>Train / Val / Test Split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D2EE3E-A881-40C8-9B32-A9199EB01006}"/>
              </a:ext>
            </a:extLst>
          </p:cNvPr>
          <p:cNvSpPr>
            <a:spLocks noGrp="1"/>
          </p:cNvSpPr>
          <p:nvPr/>
        </p:nvSpPr>
        <p:spPr>
          <a:xfrm>
            <a:off x="1143000" y="9144000"/>
            <a:ext cx="1600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350" b="0" i="1">
                <a:solidFill>
                  <a:srgbClr val="0B0F1A">
                    <a:alpha val="40000"/>
                  </a:srgbClr>
                </a:solidFill>
                <a:latin typeface="Pretendard"/>
                <a:ea typeface="Pretendard"/>
                <a:cs typeface="Pretendard"/>
              </a:rPr>
              <a:t>※ Distributional regression - 단일 BPM 값 대신 BPM 분포를 예측해 미세한 tempo 변화에 안정적으로 대응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C949F0-CD96-46E9-860A-E95CC8ED7F7C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01215E8-55B6-4A2F-A076-3F1D4EABA84E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07 / 09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F4C43F4-EF49-D57F-F5CE-835310C7B1A0}"/>
              </a:ext>
            </a:extLst>
          </p:cNvPr>
          <p:cNvSpPr>
            <a:spLocks noGrp="1"/>
          </p:cNvSpPr>
          <p:nvPr/>
        </p:nvSpPr>
        <p:spPr>
          <a:xfrm>
            <a:off x="12885558" y="4057650"/>
            <a:ext cx="4953000" cy="2800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45000"/>
              </a:lnSpc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오른손 </a:t>
            </a:r>
            <a:r>
              <a:rPr lang="en-US" altLang="ko-KR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ko-KR" sz="1600" dirty="0"/>
              <a:t>Global</a:t>
            </a:r>
            <a:r>
              <a:rPr lang="en-US" altLang="ko-KR" sz="1600" dirty="0"/>
              <a:t>)</a:t>
            </a:r>
            <a:endParaRPr lang="en"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Tempo : </a:t>
            </a:r>
            <a:r>
              <a:rPr lang="ko-KR" altLang="en-US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실제 지휘 동작</a:t>
            </a:r>
            <a:endParaRPr lang="en-US" altLang="ko-KR"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Volume : </a:t>
            </a: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동작 크기</a:t>
            </a:r>
            <a:endParaRPr lang="en-US" altLang="ko-KR" sz="15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endParaRPr lang="en-US" sz="15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왼손 </a:t>
            </a:r>
            <a:endParaRPr lang="en-US" altLang="ko-KR" sz="15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악기 선택 </a:t>
            </a:r>
            <a:r>
              <a:rPr lang="en-US" altLang="ko-KR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손목 위치</a:t>
            </a:r>
            <a:endParaRPr lang="en-US" sz="15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주먹 </a:t>
            </a:r>
            <a:r>
              <a:rPr lang="en-US" altLang="ko-KR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lang="ko-KR" altLang="en-US" sz="1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음소거</a:t>
            </a:r>
            <a:endParaRPr lang="en-US" altLang="ko-KR" sz="150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5000"/>
              </a:lnSpc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점점 강하게</a:t>
            </a:r>
            <a:r>
              <a:rPr lang="en-US" altLang="ko-KR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약하게</a:t>
            </a:r>
            <a:endParaRPr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41" name="Picture 2" descr="아기 손 벡터 일러스트 레이 션의 12 세트 | 프리미엄 벡터">
            <a:extLst>
              <a:ext uri="{FF2B5EF4-FFF2-40B4-BE49-F238E27FC236}">
                <a16:creationId xmlns:a16="http://schemas.microsoft.com/office/drawing/2014/main" id="{C1A0D432-61D9-13C5-20AE-602CA12CB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45"/>
          <a:stretch>
            <a:fillRect/>
          </a:stretch>
        </p:blipFill>
        <p:spPr bwMode="auto">
          <a:xfrm>
            <a:off x="12885558" y="6884669"/>
            <a:ext cx="2575560" cy="173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42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A34B-DEB9-3A40-0DCB-12CBE2F5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31B0E156-768A-EDCF-4466-1D81B0694C89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03 / Remaining · 5-1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72E186-2EFA-F078-2D9F-4EAFC908D3C3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데이터셋</a:t>
            </a:r>
            <a:r>
              <a:rPr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구성</a:t>
            </a:r>
            <a:r>
              <a:rPr sz="48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계획</a:t>
            </a:r>
            <a:endParaRPr sz="48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B270AE-98E3-08D7-BD66-16ED985F608D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F02E18-8BE5-9043-0343-FC860108DE62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07 / 09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37ABDE4-E382-9174-D31A-FD116B24C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337" y="1143000"/>
            <a:ext cx="6683375" cy="375939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2E4F516-AAFB-F235-1306-7D9C03BFE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338" y="5384602"/>
            <a:ext cx="6683375" cy="3759398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BB921580-1033-378D-C44F-B77F398BE8E3}"/>
              </a:ext>
            </a:extLst>
          </p:cNvPr>
          <p:cNvSpPr>
            <a:spLocks noGrp="1"/>
          </p:cNvSpPr>
          <p:nvPr/>
        </p:nvSpPr>
        <p:spPr>
          <a:xfrm>
            <a:off x="1143000" y="3177540"/>
            <a:ext cx="1600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5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sz="1950" b="1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Demo</a:t>
            </a:r>
            <a:endParaRPr sz="1950" b="1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88F33C0-7900-2551-E274-9B9098AFD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190" y="4083396"/>
            <a:ext cx="5670119" cy="3324167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AD5004A8-11DA-71AF-853D-1E27353453DE}"/>
              </a:ext>
            </a:extLst>
          </p:cNvPr>
          <p:cNvSpPr>
            <a:spLocks noGrp="1"/>
          </p:cNvSpPr>
          <p:nvPr/>
        </p:nvSpPr>
        <p:spPr>
          <a:xfrm>
            <a:off x="2213190" y="7646669"/>
            <a:ext cx="4953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데이터 수집 프로그램</a:t>
            </a:r>
            <a:endParaRPr lang="en-US" altLang="ko-KR"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endParaRPr sz="1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FF4B5F3-1769-68FA-80F1-79B26A2DA9FB}"/>
              </a:ext>
            </a:extLst>
          </p:cNvPr>
          <p:cNvSpPr>
            <a:spLocks noGrp="1"/>
          </p:cNvSpPr>
          <p:nvPr/>
        </p:nvSpPr>
        <p:spPr>
          <a:xfrm>
            <a:off x="9782278" y="2144182"/>
            <a:ext cx="1459463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2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120</a:t>
            </a:r>
            <a:r>
              <a:rPr lang="en-US" altLang="ko-KR" sz="2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BPM</a:t>
            </a:r>
            <a:endParaRPr sz="2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DB4D9B-EE45-5EDF-1BDC-4BA6E43340B3}"/>
              </a:ext>
            </a:extLst>
          </p:cNvPr>
          <p:cNvSpPr>
            <a:spLocks noGrp="1"/>
          </p:cNvSpPr>
          <p:nvPr/>
        </p:nvSpPr>
        <p:spPr>
          <a:xfrm>
            <a:off x="9782278" y="6351270"/>
            <a:ext cx="1459463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5000"/>
              </a:lnSpc>
              <a:buNone/>
              <a:defRPr sz="150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2500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100</a:t>
            </a:r>
            <a:r>
              <a:rPr lang="en-US" altLang="ko-KR" sz="250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BPM</a:t>
            </a:r>
            <a:endParaRPr sz="2500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73939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C3D588-E785-49E4-ABBA-0AA187AD0337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03 / Remaining · 5-2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C048D8-0FBE-48E9-8B3B-CD8A263B1F60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모델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443A01-4209-4F2E-B738-BADF265517EA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600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Windowed trajectory를 입력으로 받아 Tiny Causal TCN이 두 개의 head로 tempo · dynamics를 동시에 예측합니다.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5B6138-72B7-4AD3-9293-8B1EBBA51121}"/>
              </a:ext>
            </a:extLst>
          </p:cNvPr>
          <p:cNvSpPr>
            <a:spLocks noGrp="1"/>
          </p:cNvSpPr>
          <p:nvPr/>
        </p:nvSpPr>
        <p:spPr>
          <a:xfrm>
            <a:off x="2857500" y="4095750"/>
            <a:ext cx="5715000" cy="6096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1677E0-09A0-4B88-BF7A-A20177DEB783}"/>
              </a:ext>
            </a:extLst>
          </p:cNvPr>
          <p:cNvSpPr>
            <a:spLocks noGrp="1"/>
          </p:cNvSpPr>
          <p:nvPr/>
        </p:nvSpPr>
        <p:spPr>
          <a:xfrm>
            <a:off x="2857500" y="4171950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INPUT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BA85C3-C0B4-41AB-9992-AD7C51480BE9}"/>
              </a:ext>
            </a:extLst>
          </p:cNvPr>
          <p:cNvSpPr>
            <a:spLocks noGrp="1"/>
          </p:cNvSpPr>
          <p:nvPr/>
        </p:nvSpPr>
        <p:spPr>
          <a:xfrm>
            <a:off x="2857500" y="43434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Windowed Trajectory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D816DC-4FEC-45C1-8137-B211E377DCD3}"/>
              </a:ext>
            </a:extLst>
          </p:cNvPr>
          <p:cNvSpPr>
            <a:spLocks noGrp="1"/>
          </p:cNvSpPr>
          <p:nvPr/>
        </p:nvSpPr>
        <p:spPr>
          <a:xfrm>
            <a:off x="5581650" y="47815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CD94AC-AE7B-491D-848F-06CA7C4C4939}"/>
              </a:ext>
            </a:extLst>
          </p:cNvPr>
          <p:cNvSpPr>
            <a:spLocks noGrp="1"/>
          </p:cNvSpPr>
          <p:nvPr/>
        </p:nvSpPr>
        <p:spPr>
          <a:xfrm>
            <a:off x="2857500" y="5048250"/>
            <a:ext cx="57150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014059-6669-46A0-913A-8CC4B5CCC45A}"/>
              </a:ext>
            </a:extLst>
          </p:cNvPr>
          <p:cNvSpPr>
            <a:spLocks noGrp="1"/>
          </p:cNvSpPr>
          <p:nvPr/>
        </p:nvSpPr>
        <p:spPr>
          <a:xfrm>
            <a:off x="2857500" y="5181600"/>
            <a:ext cx="571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Normalization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F22280-7A30-4BBF-A363-79D01E45B802}"/>
              </a:ext>
            </a:extLst>
          </p:cNvPr>
          <p:cNvSpPr>
            <a:spLocks noGrp="1"/>
          </p:cNvSpPr>
          <p:nvPr/>
        </p:nvSpPr>
        <p:spPr>
          <a:xfrm>
            <a:off x="5581650" y="5616702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18D221-A1E0-4109-A1D1-B528F98BC347}"/>
              </a:ext>
            </a:extLst>
          </p:cNvPr>
          <p:cNvSpPr>
            <a:spLocks noGrp="1"/>
          </p:cNvSpPr>
          <p:nvPr/>
        </p:nvSpPr>
        <p:spPr>
          <a:xfrm>
            <a:off x="2857500" y="5910834"/>
            <a:ext cx="5715000" cy="800100"/>
          </a:xfrm>
          <a:prstGeom prst="rect">
            <a:avLst/>
          </a:prstGeom>
          <a:solidFill>
            <a:srgbClr val="0B0F1A">
              <a:alpha val="5000"/>
            </a:srgbClr>
          </a:solidFill>
          <a:ln w="19050">
            <a:solidFill>
              <a:srgbClr val="2A2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D5ECDB-F31D-4F3A-BC91-62CF4AE902A2}"/>
              </a:ext>
            </a:extLst>
          </p:cNvPr>
          <p:cNvSpPr>
            <a:spLocks noGrp="1"/>
          </p:cNvSpPr>
          <p:nvPr/>
        </p:nvSpPr>
        <p:spPr>
          <a:xfrm>
            <a:off x="2857500" y="5987034"/>
            <a:ext cx="571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BACKBONE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64668E-714B-4120-8FA6-03881DCCF1CC}"/>
              </a:ext>
            </a:extLst>
          </p:cNvPr>
          <p:cNvSpPr>
            <a:spLocks noGrp="1"/>
          </p:cNvSpPr>
          <p:nvPr/>
        </p:nvSpPr>
        <p:spPr>
          <a:xfrm>
            <a:off x="2857500" y="6158484"/>
            <a:ext cx="5715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Tiny Causal TCN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07F571-CB9E-41AD-B902-B08C606BA6F9}"/>
              </a:ext>
            </a:extLst>
          </p:cNvPr>
          <p:cNvSpPr>
            <a:spLocks noGrp="1"/>
          </p:cNvSpPr>
          <p:nvPr/>
        </p:nvSpPr>
        <p:spPr>
          <a:xfrm>
            <a:off x="4219194" y="6768846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154387-E2CC-4D3B-9BCE-AC6481F35053}"/>
              </a:ext>
            </a:extLst>
          </p:cNvPr>
          <p:cNvSpPr>
            <a:spLocks noGrp="1"/>
          </p:cNvSpPr>
          <p:nvPr/>
        </p:nvSpPr>
        <p:spPr>
          <a:xfrm>
            <a:off x="2857500" y="7053834"/>
            <a:ext cx="278130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727056-DEE2-4028-9569-4A3C7FDBFC5D}"/>
              </a:ext>
            </a:extLst>
          </p:cNvPr>
          <p:cNvSpPr>
            <a:spLocks noGrp="1"/>
          </p:cNvSpPr>
          <p:nvPr/>
        </p:nvSpPr>
        <p:spPr>
          <a:xfrm>
            <a:off x="5791200" y="7053834"/>
            <a:ext cx="2781300" cy="64770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C66DFA-3663-45DB-8761-5566C69E066A}"/>
              </a:ext>
            </a:extLst>
          </p:cNvPr>
          <p:cNvSpPr>
            <a:spLocks noGrp="1"/>
          </p:cNvSpPr>
          <p:nvPr/>
        </p:nvSpPr>
        <p:spPr>
          <a:xfrm>
            <a:off x="3048000" y="7130034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HEAD A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2FF58E-3EE8-4BDB-88E3-70449D0BEED4}"/>
              </a:ext>
            </a:extLst>
          </p:cNvPr>
          <p:cNvSpPr>
            <a:spLocks noGrp="1"/>
          </p:cNvSpPr>
          <p:nvPr/>
        </p:nvSpPr>
        <p:spPr>
          <a:xfrm>
            <a:off x="3048000" y="7301484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BPM </a:t>
            </a:r>
            <a:r>
              <a:rPr lang="en" sz="15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Regression</a:t>
            </a:r>
            <a:endParaRPr sz="15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B41902-0E58-4326-B496-7E31070F6721}"/>
              </a:ext>
            </a:extLst>
          </p:cNvPr>
          <p:cNvSpPr>
            <a:spLocks noGrp="1"/>
          </p:cNvSpPr>
          <p:nvPr/>
        </p:nvSpPr>
        <p:spPr>
          <a:xfrm>
            <a:off x="5981700" y="7130034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HEAD B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491319-1F45-4AED-9350-959BF9089A04}"/>
              </a:ext>
            </a:extLst>
          </p:cNvPr>
          <p:cNvSpPr>
            <a:spLocks noGrp="1"/>
          </p:cNvSpPr>
          <p:nvPr/>
        </p:nvSpPr>
        <p:spPr>
          <a:xfrm>
            <a:off x="5981700" y="7301484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5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Volume</a:t>
            </a:r>
            <a:endParaRPr sz="15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9C4010-99C8-48AC-9403-1B58A826228A}"/>
              </a:ext>
            </a:extLst>
          </p:cNvPr>
          <p:cNvSpPr>
            <a:spLocks noGrp="1"/>
          </p:cNvSpPr>
          <p:nvPr/>
        </p:nvSpPr>
        <p:spPr>
          <a:xfrm>
            <a:off x="2857500" y="8082534"/>
            <a:ext cx="5715000" cy="514350"/>
          </a:xfrm>
          <a:prstGeom prst="rect">
            <a:avLst/>
          </a:prstGeom>
          <a:solidFill>
            <a:srgbClr val="FFFFFF"/>
          </a:solidFill>
          <a:ln w="14288">
            <a:solidFill>
              <a:srgbClr val="0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929D0D-441C-4B18-84AD-0AC087DDDEA7}"/>
              </a:ext>
            </a:extLst>
          </p:cNvPr>
          <p:cNvSpPr>
            <a:spLocks noGrp="1"/>
          </p:cNvSpPr>
          <p:nvPr/>
        </p:nvSpPr>
        <p:spPr>
          <a:xfrm>
            <a:off x="2857500" y="8215884"/>
            <a:ext cx="571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Temporal Smoothing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2CD2E2-B620-431A-9085-733D24E5210C}"/>
              </a:ext>
            </a:extLst>
          </p:cNvPr>
          <p:cNvSpPr>
            <a:spLocks noGrp="1"/>
          </p:cNvSpPr>
          <p:nvPr/>
        </p:nvSpPr>
        <p:spPr>
          <a:xfrm>
            <a:off x="9525000" y="428625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Design Choices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9BAF15-C01A-47F5-B4F8-1EA4E08AF09A}"/>
              </a:ext>
            </a:extLst>
          </p:cNvPr>
          <p:cNvSpPr>
            <a:spLocks noGrp="1"/>
          </p:cNvSpPr>
          <p:nvPr/>
        </p:nvSpPr>
        <p:spPr>
          <a:xfrm>
            <a:off x="9525000" y="4667250"/>
            <a:ext cx="28575" cy="68580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C20A-2FC7-4EFC-BBAD-81435D148BBD}"/>
              </a:ext>
            </a:extLst>
          </p:cNvPr>
          <p:cNvSpPr>
            <a:spLocks noGrp="1"/>
          </p:cNvSpPr>
          <p:nvPr/>
        </p:nvSpPr>
        <p:spPr>
          <a:xfrm>
            <a:off x="9734550" y="47244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Causal TCN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742D5C-EE17-4A57-9AF2-D7311138259C}"/>
              </a:ext>
            </a:extLst>
          </p:cNvPr>
          <p:cNvSpPr>
            <a:spLocks noGrp="1"/>
          </p:cNvSpPr>
          <p:nvPr/>
        </p:nvSpPr>
        <p:spPr>
          <a:xfrm>
            <a:off x="9734550" y="49911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425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미래 프레임을 참조하지 않아 실시간 추론에 적합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6D5BC8A-3CA5-4E2A-9D04-36A8693DE031}"/>
              </a:ext>
            </a:extLst>
          </p:cNvPr>
          <p:cNvSpPr>
            <a:spLocks noGrp="1"/>
          </p:cNvSpPr>
          <p:nvPr/>
        </p:nvSpPr>
        <p:spPr>
          <a:xfrm>
            <a:off x="9525000" y="5581650"/>
            <a:ext cx="28575" cy="68580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7CE8DB-C8DC-4468-80D9-1EE5294EE082}"/>
              </a:ext>
            </a:extLst>
          </p:cNvPr>
          <p:cNvSpPr>
            <a:spLocks noGrp="1"/>
          </p:cNvSpPr>
          <p:nvPr/>
        </p:nvSpPr>
        <p:spPr>
          <a:xfrm>
            <a:off x="9734550" y="56388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Tiny - 경량 모델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10D80B-D4DD-4E6B-B427-3FFDC99FB641}"/>
              </a:ext>
            </a:extLst>
          </p:cNvPr>
          <p:cNvSpPr>
            <a:spLocks noGrp="1"/>
          </p:cNvSpPr>
          <p:nvPr/>
        </p:nvSpPr>
        <p:spPr>
          <a:xfrm>
            <a:off x="9734550" y="59055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425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데모용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노트북에서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60fps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이상으로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추론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규모</a:t>
            </a:r>
            <a:endParaRPr sz="1425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1359AD-38DD-407B-B764-624C086B1A2C}"/>
              </a:ext>
            </a:extLst>
          </p:cNvPr>
          <p:cNvSpPr>
            <a:spLocks noGrp="1"/>
          </p:cNvSpPr>
          <p:nvPr/>
        </p:nvSpPr>
        <p:spPr>
          <a:xfrm>
            <a:off x="9525000" y="6496050"/>
            <a:ext cx="28575" cy="68580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DDEFF8C-8860-49BC-9A76-80044121EA65}"/>
              </a:ext>
            </a:extLst>
          </p:cNvPr>
          <p:cNvSpPr>
            <a:spLocks noGrp="1"/>
          </p:cNvSpPr>
          <p:nvPr/>
        </p:nvSpPr>
        <p:spPr>
          <a:xfrm>
            <a:off x="9734550" y="65532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Dual-head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C9345C-D043-4E92-BF6F-B7D5F10C8366}"/>
              </a:ext>
            </a:extLst>
          </p:cNvPr>
          <p:cNvSpPr>
            <a:spLocks noGrp="1"/>
          </p:cNvSpPr>
          <p:nvPr/>
        </p:nvSpPr>
        <p:spPr>
          <a:xfrm>
            <a:off x="9734550" y="68199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425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하나의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backbone에서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tempo와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425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volume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공유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표현으로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예측</a:t>
            </a:r>
            <a:endParaRPr sz="1425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CA1ECC9-9C9B-4BE2-ACFB-7B250EAB06E4}"/>
              </a:ext>
            </a:extLst>
          </p:cNvPr>
          <p:cNvSpPr>
            <a:spLocks noGrp="1"/>
          </p:cNvSpPr>
          <p:nvPr/>
        </p:nvSpPr>
        <p:spPr>
          <a:xfrm>
            <a:off x="9525000" y="7410450"/>
            <a:ext cx="28575" cy="685800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234DAFF-2156-4B0F-808A-2E50C29A0F26}"/>
              </a:ext>
            </a:extLst>
          </p:cNvPr>
          <p:cNvSpPr>
            <a:spLocks noGrp="1"/>
          </p:cNvSpPr>
          <p:nvPr/>
        </p:nvSpPr>
        <p:spPr>
          <a:xfrm>
            <a:off x="9734550" y="74676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Temporal Smoothing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0BBA9F-6048-4747-BCE1-BE1C45264CD5}"/>
              </a:ext>
            </a:extLst>
          </p:cNvPr>
          <p:cNvSpPr>
            <a:spLocks noGrp="1"/>
          </p:cNvSpPr>
          <p:nvPr/>
        </p:nvSpPr>
        <p:spPr>
          <a:xfrm>
            <a:off x="9734550" y="77343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40000"/>
              </a:lnSpc>
              <a:buNone/>
              <a:defRPr sz="1425" b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프레임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단위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추정의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jitter를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억제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자연스러운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변조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곡선</a:t>
            </a:r>
            <a:r>
              <a:rPr sz="1425" b="0" dirty="0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25" b="0" dirty="0" err="1">
                <a:solidFill>
                  <a:srgbClr val="0B0F1A">
                    <a:alpha val="60000"/>
                  </a:srgbClr>
                </a:solidFill>
                <a:latin typeface="Pretendard"/>
                <a:ea typeface="Pretendard"/>
                <a:cs typeface="Pretendard"/>
              </a:rPr>
              <a:t>확보</a:t>
            </a:r>
            <a:endParaRPr sz="1425" b="0" dirty="0">
              <a:solidFill>
                <a:srgbClr val="0B0F1A">
                  <a:alpha val="60000"/>
                </a:srgb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2EA3B1F-67FD-4A32-8CF7-3DF5E112BE83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4D61069-ED1D-48B7-B05D-DD7E0193DF0B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08 / 09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42758CC-3E5F-331A-3F0E-0B6C7676FEB9}"/>
              </a:ext>
            </a:extLst>
          </p:cNvPr>
          <p:cNvSpPr>
            <a:spLocks noGrp="1"/>
          </p:cNvSpPr>
          <p:nvPr/>
        </p:nvSpPr>
        <p:spPr>
          <a:xfrm>
            <a:off x="7014210" y="6774942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57F64CD-F0E2-9199-2D8A-BD1BBFCF7FE4}"/>
              </a:ext>
            </a:extLst>
          </p:cNvPr>
          <p:cNvSpPr>
            <a:spLocks noGrp="1"/>
          </p:cNvSpPr>
          <p:nvPr/>
        </p:nvSpPr>
        <p:spPr>
          <a:xfrm>
            <a:off x="4216146" y="7771638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 dirty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3601C37-AA45-893E-24BC-C9F83CA0DBCC}"/>
              </a:ext>
            </a:extLst>
          </p:cNvPr>
          <p:cNvSpPr>
            <a:spLocks noGrp="1"/>
          </p:cNvSpPr>
          <p:nvPr/>
        </p:nvSpPr>
        <p:spPr>
          <a:xfrm>
            <a:off x="7011162" y="7777734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8626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68AD7B-0086-414B-B23F-0DE816E3F2CC}"/>
              </a:ext>
            </a:extLst>
          </p:cNvPr>
          <p:cNvSpPr>
            <a:spLocks noGrp="1"/>
          </p:cNvSpPr>
          <p:nvPr/>
        </p:nvSpPr>
        <p:spPr>
          <a:xfrm>
            <a:off x="1143000" y="1143000"/>
            <a:ext cx="1600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A2F8F"/>
                </a:solidFill>
                <a:latin typeface="Menlo"/>
                <a:ea typeface="Menlo"/>
                <a:cs typeface="Menlo"/>
              </a:rPr>
              <a:t>04 / Final Deliverable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2238F5-AF42-4673-BE2D-94FFEC3049CB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160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540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54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질문</a:t>
            </a:r>
            <a:endParaRPr sz="54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9363A0-57FF-44E1-A498-B8435111AD75}"/>
              </a:ext>
            </a:extLst>
          </p:cNvPr>
          <p:cNvSpPr>
            <a:spLocks noGrp="1"/>
          </p:cNvSpPr>
          <p:nvPr/>
        </p:nvSpPr>
        <p:spPr>
          <a:xfrm>
            <a:off x="1143000" y="3312691"/>
            <a:ext cx="4953000" cy="28575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0E0178-B2A5-4D26-9140-BD732BCC212C}"/>
              </a:ext>
            </a:extLst>
          </p:cNvPr>
          <p:cNvSpPr>
            <a:spLocks noGrp="1"/>
          </p:cNvSpPr>
          <p:nvPr/>
        </p:nvSpPr>
        <p:spPr>
          <a:xfrm>
            <a:off x="1143000" y="3522241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44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9C3CD6-3436-43E4-A722-62C48A4BFFC6}"/>
              </a:ext>
            </a:extLst>
          </p:cNvPr>
          <p:cNvSpPr>
            <a:spLocks noGrp="1"/>
          </p:cNvSpPr>
          <p:nvPr/>
        </p:nvSpPr>
        <p:spPr>
          <a:xfrm>
            <a:off x="1143000" y="3994007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40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딥러닝 </a:t>
            </a:r>
            <a:r>
              <a:rPr lang="en-US" altLang="ko-KR" sz="40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vs </a:t>
            </a:r>
            <a:r>
              <a:rPr lang="ko-KR" altLang="en-US" sz="40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규칙기반</a:t>
            </a:r>
            <a:endParaRPr sz="40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F0E633-5601-4501-B12F-4118969B41A6}"/>
              </a:ext>
            </a:extLst>
          </p:cNvPr>
          <p:cNvSpPr>
            <a:spLocks noGrp="1"/>
          </p:cNvSpPr>
          <p:nvPr/>
        </p:nvSpPr>
        <p:spPr>
          <a:xfrm>
            <a:off x="7113498" y="3341266"/>
            <a:ext cx="4953000" cy="28575"/>
          </a:xfrm>
          <a:prstGeom prst="rect">
            <a:avLst/>
          </a:prstGeom>
          <a:solidFill>
            <a:srgbClr val="2A2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9240C8-0A81-4EC8-A834-1394E60ED493}"/>
              </a:ext>
            </a:extLst>
          </p:cNvPr>
          <p:cNvSpPr>
            <a:spLocks noGrp="1"/>
          </p:cNvSpPr>
          <p:nvPr/>
        </p:nvSpPr>
        <p:spPr>
          <a:xfrm>
            <a:off x="7113498" y="3550816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0">
                <a:solidFill>
                  <a:srgbClr val="2A2F8F"/>
                </a:solidFill>
                <a:latin typeface="Menlo"/>
                <a:ea typeface="Menlo"/>
                <a:cs typeface="Menlo"/>
              </a:defRPr>
            </a:pPr>
            <a:r>
              <a:rPr sz="4400" b="0">
                <a:solidFill>
                  <a:srgbClr val="2A2F8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E2EEF1-75BC-4741-B1D4-33941A831EAF}"/>
              </a:ext>
            </a:extLst>
          </p:cNvPr>
          <p:cNvSpPr>
            <a:spLocks noGrp="1"/>
          </p:cNvSpPr>
          <p:nvPr/>
        </p:nvSpPr>
        <p:spPr>
          <a:xfrm>
            <a:off x="7113498" y="4022582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buNone/>
              <a:defRPr sz="1950" b="1">
                <a:solidFill>
                  <a:srgbClr val="0B0F1A"/>
                </a:solidFill>
                <a:latin typeface="Pretendard"/>
                <a:ea typeface="Pretendard"/>
                <a:cs typeface="Pretendard"/>
              </a:defRPr>
            </a:pPr>
            <a:r>
              <a:rPr lang="en-US" sz="40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Normalization </a:t>
            </a:r>
            <a:r>
              <a:rPr lang="ko-KR" altLang="en-US" sz="4000" b="1" dirty="0">
                <a:solidFill>
                  <a:srgbClr val="0B0F1A"/>
                </a:solidFill>
                <a:latin typeface="Pretendard"/>
                <a:ea typeface="Pretendard"/>
                <a:cs typeface="Pretendard"/>
              </a:rPr>
              <a:t>기준</a:t>
            </a:r>
            <a:endParaRPr sz="4000" b="1" dirty="0">
              <a:solidFill>
                <a:srgbClr val="0B0F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D09E8F-B816-4041-B3BA-72C919F3E0D0}"/>
              </a:ext>
            </a:extLst>
          </p:cNvPr>
          <p:cNvSpPr>
            <a:spLocks noGrp="1"/>
          </p:cNvSpPr>
          <p:nvPr/>
        </p:nvSpPr>
        <p:spPr>
          <a:xfrm>
            <a:off x="1143000" y="971550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중간발표 · MIDI Handmark Conducting · 김종하 김현수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AA17A5-01EE-408F-A7C6-745AE5AFA44A}"/>
              </a:ext>
            </a:extLst>
          </p:cNvPr>
          <p:cNvSpPr>
            <a:spLocks noGrp="1"/>
          </p:cNvSpPr>
          <p:nvPr/>
        </p:nvSpPr>
        <p:spPr>
          <a:xfrm>
            <a:off x="16002000" y="97155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B0F1A">
                    <a:alpha val="40000"/>
                  </a:srgbClr>
                </a:solidFill>
                <a:latin typeface="Menlo"/>
                <a:ea typeface="Menlo"/>
                <a:cs typeface="Menlo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6337402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Macintosh PowerPoint</Application>
  <DocSecurity>0</DocSecurity>
  <PresentationFormat>사용자 지정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Pretendard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김종하</cp:lastModifiedBy>
  <cp:revision>1</cp:revision>
  <dcterms:created xsi:type="dcterms:W3CDTF">2026-05-27T01:43:50Z</dcterms:created>
  <dcterms:modified xsi:type="dcterms:W3CDTF">2026-05-27T04:02:20Z</dcterms:modified>
</cp:coreProperties>
</file>